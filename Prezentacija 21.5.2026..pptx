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73" r:id="rId4"/>
    <p:sldId id="258" r:id="rId5"/>
    <p:sldId id="265" r:id="rId6"/>
    <p:sldId id="259" r:id="rId7"/>
    <p:sldId id="261" r:id="rId8"/>
    <p:sldId id="262" r:id="rId9"/>
    <p:sldId id="263" r:id="rId10"/>
    <p:sldId id="264" r:id="rId11"/>
    <p:sldId id="266" r:id="rId12"/>
    <p:sldId id="267" r:id="rId13"/>
    <p:sldId id="274" r:id="rId14"/>
    <p:sldId id="279" r:id="rId15"/>
    <p:sldId id="280" r:id="rId16"/>
    <p:sldId id="281" r:id="rId17"/>
    <p:sldId id="282" r:id="rId18"/>
    <p:sldId id="275" r:id="rId19"/>
    <p:sldId id="269" r:id="rId20"/>
    <p:sldId id="277" r:id="rId21"/>
    <p:sldId id="270" r:id="rId22"/>
    <p:sldId id="271" r:id="rId23"/>
    <p:sldId id="272" r:id="rId24"/>
    <p:sldId id="283" r:id="rId25"/>
    <p:sldId id="284" r:id="rId26"/>
    <p:sldId id="278" r:id="rId27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A74C51-9993-49F2-8543-F657D5270B92}" v="139" dt="2026-05-20T09:37:51.252"/>
    <p1510:client id="{3E5F8685-8737-43F2-9E75-62B55E313D96}" v="2140" dt="2026-05-19T16:47:32.966"/>
    <p1510:client id="{BA5BA7E6-A7AF-4335-A7FF-8A71EDB3DFCA}" v="1121" dt="2026-05-20T16:01:36.088"/>
    <p1510:client id="{E4911A53-D576-FE1A-F3F4-3F6B55F85336}" v="2043" dt="2026-05-21T10:55:40.040"/>
    <p1510:client id="{F633CA2C-6477-3F62-AF6B-8ECEE1B586D0}" v="84" dt="2026-05-21T10:01:56.4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88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121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712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523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712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022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643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2952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191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519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7410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4340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4187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8242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2450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032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072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hr-HR" sz="7400"/>
              <a:t>Minkowskijeva suma konveksnih poligona</a:t>
            </a:r>
          </a:p>
        </p:txBody>
      </p:sp>
      <p:sp>
        <p:nvSpPr>
          <p:cNvPr id="3" name="Podnaslov 2"/>
          <p:cNvSpPr>
            <a:spLocks noGrp="1"/>
          </p:cNvSpPr>
          <p:nvPr>
            <p:ph type="subTitle" idx="1"/>
          </p:nvPr>
        </p:nvSpPr>
        <p:spPr>
          <a:xfrm>
            <a:off x="8170612" y="4322914"/>
            <a:ext cx="3067247" cy="577894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hr-HR" sz="2400"/>
              <a:t>Vid Joha i Petar Rupčić</a:t>
            </a:r>
          </a:p>
        </p:txBody>
      </p:sp>
    </p:spTree>
    <p:extLst>
      <p:ext uri="{BB962C8B-B14F-4D97-AF65-F5344CB8AC3E}">
        <p14:creationId xmlns:p14="http://schemas.microsoft.com/office/powerpoint/2010/main" val="414714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887C386-1EA4-79C6-9F0C-D001D709A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930" y="1153572"/>
            <a:ext cx="3200400" cy="4461163"/>
          </a:xfrm>
        </p:spPr>
        <p:txBody>
          <a:bodyPr>
            <a:normAutofit/>
          </a:bodyPr>
          <a:lstStyle/>
          <a:p>
            <a:r>
              <a:rPr lang="hr-HR" sz="3700">
                <a:solidFill>
                  <a:schemeClr val="tx2"/>
                </a:solidFill>
              </a:rPr>
              <a:t>Definicija Minkowskijeve sume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39A6A42C-BB27-8685-F32B-BA0871DD7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/>
              <a:t>P i Q skupovi točaka u ravnini </a:t>
            </a:r>
          </a:p>
          <a:p>
            <a:r>
              <a:rPr lang="hr-HR"/>
              <a:t>P + Q := {a + b; a </a:t>
            </a:r>
            <a:r>
              <a:rPr lang="hr-HR">
                <a:ea typeface="+mn-lt"/>
                <a:cs typeface="+mn-lt"/>
              </a:rPr>
              <a:t>∈ P, b ∈ Q}</a:t>
            </a:r>
          </a:p>
          <a:p>
            <a:r>
              <a:rPr lang="hr-HR"/>
              <a:t>|P| := Broj vrhova poligona P</a:t>
            </a:r>
            <a:endParaRPr lang="hr-HR" dirty="0"/>
          </a:p>
          <a:p>
            <a:endParaRPr lang="hr-HR" dirty="0"/>
          </a:p>
          <a:p>
            <a:endParaRPr lang="hr-HR" dirty="0"/>
          </a:p>
          <a:p>
            <a:r>
              <a:rPr lang="hr-HR"/>
              <a:t>U ovom projektu pretpostavljamo da su P i Q konveksni poligoni</a:t>
            </a:r>
          </a:p>
          <a:p>
            <a:r>
              <a:rPr lang="hr-HR"/>
              <a:t>Minkowski suma P + Q je konveksni poligon sa najviše |P| + |Q| vrhova </a:t>
            </a:r>
          </a:p>
        </p:txBody>
      </p:sp>
    </p:spTree>
    <p:extLst>
      <p:ext uri="{BB962C8B-B14F-4D97-AF65-F5344CB8AC3E}">
        <p14:creationId xmlns:p14="http://schemas.microsoft.com/office/powerpoint/2010/main" val="1161853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07B2D-CEB8-4CB8-36E6-C170ACA72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en-US" dirty="0" err="1"/>
              <a:t>Primjena</a:t>
            </a:r>
            <a:r>
              <a:rPr lang="en-US" dirty="0"/>
              <a:t>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944A9-99A3-3806-A1AC-C44DF7227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2092" y="2162787"/>
            <a:ext cx="3427001" cy="390858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sz="2000"/>
          </a:p>
          <a:p>
            <a:r>
              <a:rPr lang="en-US" sz="2000"/>
              <a:t>Detekcija kolizije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Physics engine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Autonomna vožnja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Robotika</a:t>
            </a:r>
          </a:p>
          <a:p>
            <a:endParaRPr lang="en-US" sz="2000"/>
          </a:p>
          <a:p>
            <a:r>
              <a:rPr lang="en-US" sz="2000"/>
              <a:t>CNC strojevi</a:t>
            </a:r>
          </a:p>
          <a:p>
            <a:endParaRPr lang="en-US" sz="2000"/>
          </a:p>
          <a:p>
            <a:endParaRPr lang="en-US" sz="2000"/>
          </a:p>
        </p:txBody>
      </p:sp>
      <p:pic>
        <p:nvPicPr>
          <p:cNvPr id="5" name="Picture 4" descr="A person standing next to a machine&#10;&#10;AI-generated content may be incorrect.">
            <a:extLst>
              <a:ext uri="{FF2B5EF4-FFF2-40B4-BE49-F238E27FC236}">
                <a16:creationId xmlns:a16="http://schemas.microsoft.com/office/drawing/2014/main" id="{AA46B5AA-3D64-5B0B-F085-492B1BF6D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457" y="1555859"/>
            <a:ext cx="6155141" cy="3770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118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0B10773-1CE4-DDA2-9C1D-D024E8A74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Algoritam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8CA1BDE3-87FA-FA26-48A9-5D27C5D37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4748" y="2270341"/>
            <a:ext cx="10018713" cy="3124201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hr-HR"/>
              <a:t>Vrhove poligona P označimo s P</a:t>
            </a:r>
            <a:r>
              <a:rPr lang="hr-HR" baseline="-25000"/>
              <a:t>i </a:t>
            </a:r>
            <a:r>
              <a:rPr lang="hr-HR"/>
              <a:t>i ciklički ih enumeriramo </a:t>
            </a:r>
            <a:endParaRPr lang="en-US"/>
          </a:p>
          <a:p>
            <a:pPr marL="0" indent="0">
              <a:buNone/>
            </a:pPr>
            <a:r>
              <a:rPr lang="hr-HR"/>
              <a:t>    tako da P</a:t>
            </a:r>
            <a:r>
              <a:rPr lang="hr-HR" baseline="-25000" dirty="0"/>
              <a:t>0 </a:t>
            </a:r>
            <a:r>
              <a:rPr lang="hr-HR" dirty="0"/>
              <a:t>=P</a:t>
            </a:r>
            <a:r>
              <a:rPr lang="hr-HR" baseline="-25000" dirty="0"/>
              <a:t>|P|</a:t>
            </a:r>
            <a:endParaRPr lang="en-US"/>
          </a:p>
          <a:p>
            <a:r>
              <a:rPr lang="hr-HR"/>
              <a:t>Vrhove enumeriramo u smjeru suprotno od kazaljke na satu i tako da vrhovi P</a:t>
            </a:r>
            <a:r>
              <a:rPr lang="hr-HR" baseline="-25000"/>
              <a:t>0 </a:t>
            </a:r>
            <a:r>
              <a:rPr lang="hr-HR"/>
              <a:t>i Q</a:t>
            </a:r>
            <a:r>
              <a:rPr lang="hr-HR" baseline="-25000"/>
              <a:t>0 </a:t>
            </a:r>
            <a:r>
              <a:rPr lang="hr-HR"/>
              <a:t>imaju najmanju y koordinatu</a:t>
            </a:r>
          </a:p>
          <a:p>
            <a:r>
              <a:rPr lang="hr-HR"/>
              <a:t>Uz dva pokazivača </a:t>
            </a:r>
            <a:r>
              <a:rPr lang="hr-HR" i="1"/>
              <a:t>i, j</a:t>
            </a:r>
            <a:r>
              <a:rPr lang="hr-HR"/>
              <a:t> ponavljamo sljedeće korake dok god je</a:t>
            </a:r>
            <a:endParaRPr lang="hr-HR" dirty="0"/>
          </a:p>
          <a:p>
            <a:pPr marL="0" indent="0">
              <a:buNone/>
            </a:pPr>
            <a:r>
              <a:rPr lang="hr-HR" dirty="0"/>
              <a:t>    </a:t>
            </a:r>
            <a:r>
              <a:rPr lang="hr-HR" i="1" dirty="0"/>
              <a:t>i &lt; |P|</a:t>
            </a:r>
            <a:r>
              <a:rPr lang="hr-HR"/>
              <a:t> te </a:t>
            </a:r>
            <a:r>
              <a:rPr lang="hr-HR" i="1"/>
              <a:t>j &lt; |Q|</a:t>
            </a:r>
          </a:p>
          <a:p>
            <a:pPr marL="1371600" lvl="2" indent="-457200">
              <a:buAutoNum type="arabicPeriod"/>
            </a:pPr>
            <a:r>
              <a:rPr lang="hr-HR"/>
              <a:t>Poligonu P + Q pridruži P</a:t>
            </a:r>
            <a:r>
              <a:rPr lang="hr-HR" baseline="-25000"/>
              <a:t>i</a:t>
            </a:r>
            <a:r>
              <a:rPr lang="hr-HR"/>
              <a:t> + Q</a:t>
            </a:r>
            <a:r>
              <a:rPr lang="hr-HR" baseline="-25000"/>
              <a:t>j</a:t>
            </a:r>
            <a:endParaRPr lang="hr-HR" sz="1400" baseline="-25000">
              <a:highlight>
                <a:srgbClr val="FFFFFF"/>
              </a:highlight>
              <a:latin typeface="Roboto"/>
              <a:ea typeface="Roboto"/>
              <a:cs typeface="Roboto"/>
            </a:endParaRPr>
          </a:p>
          <a:p>
            <a:pPr marL="1371600" lvl="2" indent="-457200">
              <a:buAutoNum type="arabicPeriod"/>
            </a:pPr>
            <a:r>
              <a:rPr lang="hr-HR"/>
              <a:t>Usporedi (polarne) kuteve vektora </a:t>
            </a:r>
            <a:r>
              <a:rPr lang="hr-HR" i="1"/>
              <a:t>P</a:t>
            </a:r>
            <a:r>
              <a:rPr lang="hr-HR" i="1" baseline="-25000"/>
              <a:t>i</a:t>
            </a:r>
            <a:r>
              <a:rPr lang="hr-HR" i="1"/>
              <a:t>P</a:t>
            </a:r>
            <a:r>
              <a:rPr lang="hr-HR" i="1" baseline="-25000"/>
              <a:t>i+1</a:t>
            </a:r>
            <a:r>
              <a:rPr lang="hr-HR" i="1" dirty="0"/>
              <a:t> </a:t>
            </a:r>
            <a:r>
              <a:rPr lang="hr-HR"/>
              <a:t>i</a:t>
            </a:r>
            <a:r>
              <a:rPr lang="hr-HR" i="1"/>
              <a:t> Q</a:t>
            </a:r>
            <a:r>
              <a:rPr lang="hr-HR" i="1" baseline="-25000"/>
              <a:t>j</a:t>
            </a:r>
            <a:r>
              <a:rPr lang="hr-HR" i="1"/>
              <a:t>Q</a:t>
            </a:r>
            <a:r>
              <a:rPr lang="hr-HR" i="1" baseline="-25000"/>
              <a:t>j+1</a:t>
            </a:r>
            <a:endParaRPr lang="hr-HR" i="1" baseline="-25000">
              <a:ea typeface="+mn-lt"/>
              <a:cs typeface="+mn-lt"/>
            </a:endParaRPr>
          </a:p>
          <a:p>
            <a:pPr marL="1371600" lvl="2" indent="-457200">
              <a:buAutoNum type="arabicPeriod"/>
            </a:pPr>
            <a:r>
              <a:rPr lang="hr-HR">
                <a:ea typeface="+mn-lt"/>
                <a:cs typeface="+mn-lt"/>
              </a:rPr>
              <a:t>Povećaj pointer koji odgovara vektoru manjeg kuta (ili oba ako su kutevi jednaki)</a:t>
            </a:r>
            <a:endParaRPr lang="hr-HR" dirty="0">
              <a:ea typeface="+mn-lt"/>
              <a:cs typeface="+mn-lt"/>
            </a:endParaRPr>
          </a:p>
          <a:p>
            <a:pPr marL="1371600" lvl="2" indent="-457200">
              <a:buAutoNum type="arabicPeriod"/>
            </a:pPr>
            <a:endParaRPr lang="hr-HR" dirty="0"/>
          </a:p>
          <a:p>
            <a:pPr marL="0" indent="0">
              <a:buNone/>
            </a:pPr>
            <a:r>
              <a:rPr lang="hr-HR"/>
              <a:t>  </a:t>
            </a:r>
            <a:endParaRPr lang="hr-HR" dirty="0"/>
          </a:p>
          <a:p>
            <a:endParaRPr lang="hr-HR" dirty="0"/>
          </a:p>
          <a:p>
            <a:endParaRPr lang="hr-HR" dirty="0"/>
          </a:p>
          <a:p>
            <a:pPr marL="0" indent="0">
              <a:buNone/>
            </a:pPr>
            <a:endParaRPr lang="hr-HR" baseline="-25000" dirty="0"/>
          </a:p>
          <a:p>
            <a:endParaRPr lang="hr-HR" baseline="-250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DFF5AB0-E0AA-DBE3-2B62-639BB37CDD8E}"/>
              </a:ext>
            </a:extLst>
          </p:cNvPr>
          <p:cNvCxnSpPr/>
          <p:nvPr/>
        </p:nvCxnSpPr>
        <p:spPr>
          <a:xfrm>
            <a:off x="5847158" y="5201262"/>
            <a:ext cx="501226" cy="104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EF1DEAB-F242-606D-5643-F0260FD4F090}"/>
              </a:ext>
            </a:extLst>
          </p:cNvPr>
          <p:cNvCxnSpPr/>
          <p:nvPr/>
        </p:nvCxnSpPr>
        <p:spPr>
          <a:xfrm>
            <a:off x="6503747" y="5204897"/>
            <a:ext cx="551089" cy="104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5326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FDEFD-DE1C-76EE-4381-0CA3D8113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 descr="A graph of a hexagon with lines and points&#10;&#10;AI-generated content may be incorrect.">
            <a:extLst>
              <a:ext uri="{FF2B5EF4-FFF2-40B4-BE49-F238E27FC236}">
                <a16:creationId xmlns:a16="http://schemas.microsoft.com/office/drawing/2014/main" id="{2D077501-458B-4BDF-C1B3-2EDB0AA07C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64857" y="1369784"/>
            <a:ext cx="4862286" cy="41148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CCCCE8-8192-C671-507A-5AD6B031F8F4}"/>
              </a:ext>
            </a:extLst>
          </p:cNvPr>
          <p:cNvSpPr txBox="1"/>
          <p:nvPr/>
        </p:nvSpPr>
        <p:spPr>
          <a:xfrm>
            <a:off x="4122963" y="3544661"/>
            <a:ext cx="20410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i="1"/>
              <a:t>P</a:t>
            </a:r>
            <a:endParaRPr lang="en-US" i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DDAD7A-21E5-07E4-E16F-2696024EF0B1}"/>
              </a:ext>
            </a:extLst>
          </p:cNvPr>
          <p:cNvSpPr txBox="1"/>
          <p:nvPr/>
        </p:nvSpPr>
        <p:spPr>
          <a:xfrm>
            <a:off x="7863531" y="2746778"/>
            <a:ext cx="21091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i="1"/>
              <a:t>Q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21D710-2E54-8B2E-DE82-368C7284FED1}"/>
              </a:ext>
            </a:extLst>
          </p:cNvPr>
          <p:cNvSpPr txBox="1"/>
          <p:nvPr/>
        </p:nvSpPr>
        <p:spPr>
          <a:xfrm>
            <a:off x="6244166" y="1820333"/>
            <a:ext cx="88194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i="1"/>
              <a:t>P + Q</a:t>
            </a:r>
          </a:p>
        </p:txBody>
      </p:sp>
    </p:spTree>
    <p:extLst>
      <p:ext uri="{BB962C8B-B14F-4D97-AF65-F5344CB8AC3E}">
        <p14:creationId xmlns:p14="http://schemas.microsoft.com/office/powerpoint/2010/main" val="986510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82D3C-F54B-4568-7D40-FC1FD7DF0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 dirty="0"/>
          </a:p>
        </p:txBody>
      </p:sp>
      <p:pic>
        <p:nvPicPr>
          <p:cNvPr id="7" name="Content Placeholder 6" descr="A graph of a hexagon with lines and points&#10;&#10;AI-generated content may be incorrect.">
            <a:extLst>
              <a:ext uri="{FF2B5EF4-FFF2-40B4-BE49-F238E27FC236}">
                <a16:creationId xmlns:a16="http://schemas.microsoft.com/office/drawing/2014/main" id="{E42043DB-6E32-2D68-084D-B286F7A789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00529" y="1382114"/>
            <a:ext cx="4811818" cy="40901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97282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9CFCA-8DEC-8978-A7AC-604D3CCCD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 descr="A graph of a hexagon with points and lines&#10;&#10;AI-generated content may be incorrect.">
            <a:extLst>
              <a:ext uri="{FF2B5EF4-FFF2-40B4-BE49-F238E27FC236}">
                <a16:creationId xmlns:a16="http://schemas.microsoft.com/office/drawing/2014/main" id="{FCD3B220-85FD-11BA-A594-7CD3BA7FF5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78737" y="1369784"/>
            <a:ext cx="4834527" cy="41148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53278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EEEE6-4E28-91AC-5CC9-25A1FAAF5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 descr="A graph of a hexagon with lines and points&#10;&#10;AI-generated content may be incorrect.">
            <a:extLst>
              <a:ext uri="{FF2B5EF4-FFF2-40B4-BE49-F238E27FC236}">
                <a16:creationId xmlns:a16="http://schemas.microsoft.com/office/drawing/2014/main" id="{1FA34932-2D8B-EF36-F1B1-D9D0F1A4B1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74458" y="1369784"/>
            <a:ext cx="4843083" cy="41148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01923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17CC1-B735-B5C5-BE82-C00B3FFE2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D818593-7C65-9A2D-3716-16EB324B03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62202" y="1374805"/>
            <a:ext cx="4867596" cy="41148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39429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76BD4-1C6B-3F32-0C69-C76E293DD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 descr="A graph of a rectangle and a triangle&#10;&#10;AI-generated content may be incorrect.">
            <a:extLst>
              <a:ext uri="{FF2B5EF4-FFF2-40B4-BE49-F238E27FC236}">
                <a16:creationId xmlns:a16="http://schemas.microsoft.com/office/drawing/2014/main" id="{F954EE44-E8F8-9A72-F23C-250E9A8655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8682" y="1369784"/>
            <a:ext cx="4794637" cy="41148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56215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E0A6F-C131-2B1C-C506-686B6BDFF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Udaljenost</a:t>
            </a:r>
            <a:r>
              <a:rPr lang="en-US" dirty="0"/>
              <a:t>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dirty="0" err="1"/>
              <a:t>dva</a:t>
            </a:r>
            <a:r>
              <a:rPr lang="en-US" dirty="0"/>
              <a:t> </a:t>
            </a:r>
            <a:r>
              <a:rPr lang="en-US" dirty="0" err="1"/>
              <a:t>poligona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09D50-05B6-88C5-AE93-4B084C881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 err="1"/>
              <a:t>Ostvaruje</a:t>
            </a:r>
            <a:r>
              <a:rPr lang="en-US" dirty="0"/>
              <a:t> se </a:t>
            </a:r>
            <a:r>
              <a:rPr lang="en-US" dirty="0" err="1"/>
              <a:t>između</a:t>
            </a:r>
            <a:r>
              <a:rPr lang="en-US" dirty="0"/>
              <a:t> </a:t>
            </a:r>
            <a:r>
              <a:rPr lang="en-US" dirty="0" err="1"/>
              <a:t>dvaju</a:t>
            </a:r>
            <a:r>
              <a:rPr lang="en-US" dirty="0"/>
              <a:t> </a:t>
            </a:r>
            <a:r>
              <a:rPr lang="en-US" dirty="0" err="1"/>
              <a:t>vrhova</a:t>
            </a:r>
            <a:r>
              <a:rPr lang="en-US" dirty="0"/>
              <a:t> </a:t>
            </a:r>
            <a:r>
              <a:rPr lang="en-US" dirty="0" err="1"/>
              <a:t>ili</a:t>
            </a:r>
            <a:r>
              <a:rPr lang="en-US" dirty="0"/>
              <a:t> </a:t>
            </a:r>
            <a:r>
              <a:rPr lang="en-US" dirty="0" err="1"/>
              <a:t>između</a:t>
            </a:r>
            <a:r>
              <a:rPr lang="en-US" dirty="0"/>
              <a:t> </a:t>
            </a:r>
            <a:r>
              <a:rPr lang="en-US" dirty="0" err="1"/>
              <a:t>vrha</a:t>
            </a:r>
            <a:r>
              <a:rPr lang="en-US" dirty="0"/>
              <a:t> </a:t>
            </a:r>
            <a:r>
              <a:rPr lang="en-US" dirty="0" err="1"/>
              <a:t>i</a:t>
            </a:r>
            <a:r>
              <a:rPr lang="en-US" dirty="0"/>
              <a:t> </a:t>
            </a:r>
            <a:r>
              <a:rPr lang="en-US" dirty="0" err="1"/>
              <a:t>stranice</a:t>
            </a:r>
            <a:r>
              <a:rPr lang="en-US" dirty="0"/>
              <a:t> </a:t>
            </a:r>
            <a:r>
              <a:rPr lang="en-US" dirty="0" err="1"/>
              <a:t>što</a:t>
            </a:r>
            <a:r>
              <a:rPr lang="en-US" dirty="0"/>
              <a:t> </a:t>
            </a:r>
            <a:r>
              <a:rPr lang="en-US" dirty="0" err="1"/>
              <a:t>nam</a:t>
            </a:r>
            <a:r>
              <a:rPr lang="en-US" dirty="0"/>
              <a:t> </a:t>
            </a:r>
            <a:r>
              <a:rPr lang="en-US" dirty="0" err="1"/>
              <a:t>daje</a:t>
            </a:r>
            <a:r>
              <a:rPr lang="en-US" dirty="0"/>
              <a:t> </a:t>
            </a:r>
            <a:r>
              <a:rPr lang="en-US" dirty="0" err="1"/>
              <a:t>vremensku</a:t>
            </a:r>
            <a:r>
              <a:rPr lang="en-US" dirty="0"/>
              <a:t> </a:t>
            </a:r>
            <a:r>
              <a:rPr lang="en-US" dirty="0" err="1"/>
              <a:t>složenost</a:t>
            </a:r>
            <a:r>
              <a:rPr lang="en-US" dirty="0"/>
              <a:t> </a:t>
            </a:r>
            <a:r>
              <a:rPr lang="en-US" i="1" dirty="0"/>
              <a:t>O(|P||Q|)</a:t>
            </a:r>
            <a:endParaRPr lang="en-US" dirty="0"/>
          </a:p>
          <a:p>
            <a:endParaRPr lang="en-US" i="1" dirty="0"/>
          </a:p>
          <a:p>
            <a:endParaRPr lang="en-US" dirty="0"/>
          </a:p>
          <a:p>
            <a:endParaRPr lang="en-US"/>
          </a:p>
          <a:p>
            <a:endParaRPr lang="en-US" dirty="0"/>
          </a:p>
          <a:p>
            <a:r>
              <a:rPr lang="en-US" dirty="0"/>
              <a:t>Korištenjem Minkowskijeve </a:t>
            </a:r>
            <a:r>
              <a:rPr lang="en-US" dirty="0" err="1"/>
              <a:t>sume</a:t>
            </a:r>
            <a:r>
              <a:rPr lang="en-US" dirty="0"/>
              <a:t> problem </a:t>
            </a:r>
            <a:r>
              <a:rPr lang="en-US" dirty="0" err="1"/>
              <a:t>možemo</a:t>
            </a:r>
            <a:r>
              <a:rPr lang="en-US" dirty="0"/>
              <a:t> </a:t>
            </a:r>
            <a:r>
              <a:rPr lang="en-US" dirty="0" err="1"/>
              <a:t>riješiti</a:t>
            </a:r>
            <a:r>
              <a:rPr lang="en-US" dirty="0"/>
              <a:t> u </a:t>
            </a:r>
            <a:r>
              <a:rPr lang="en-US" dirty="0" err="1"/>
              <a:t>složenosti</a:t>
            </a:r>
            <a:r>
              <a:rPr lang="en-US" dirty="0"/>
              <a:t> </a:t>
            </a:r>
            <a:r>
              <a:rPr lang="en-US" i="1" dirty="0"/>
              <a:t>O(|P| + |Q|)</a:t>
            </a:r>
            <a:endParaRPr lang="en-US" dirty="0"/>
          </a:p>
          <a:p>
            <a:endParaRPr lang="en-US" i="1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black and white image of triangles&#10;&#10;AI-generated content may be incorrect.">
            <a:extLst>
              <a:ext uri="{FF2B5EF4-FFF2-40B4-BE49-F238E27FC236}">
                <a16:creationId xmlns:a16="http://schemas.microsoft.com/office/drawing/2014/main" id="{3572CA47-EDFB-0B85-3381-D9CDA7F96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237" y="3356986"/>
            <a:ext cx="8403222" cy="1734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359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0D41AE-4CDC-6C96-3DE5-35CBA2A5C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64E4C-9F16-F2ED-CE74-70A8B085F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Udaljenost</a:t>
            </a:r>
            <a:r>
              <a:rPr lang="en-US" dirty="0"/>
              <a:t>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dirty="0" err="1"/>
              <a:t>dva</a:t>
            </a:r>
            <a:r>
              <a:rPr lang="en-US" dirty="0"/>
              <a:t> </a:t>
            </a:r>
            <a:r>
              <a:rPr lang="en-US" dirty="0" err="1"/>
              <a:t>poligona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E14D5-5486-215F-36AA-828DCB563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946752"/>
            <a:ext cx="10018713" cy="3124201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dirty="0"/>
              <a:t>       </a:t>
            </a:r>
          </a:p>
          <a:p>
            <a:endParaRPr lang="en-US" dirty="0"/>
          </a:p>
          <a:p>
            <a:r>
              <a:rPr lang="en-US" dirty="0" err="1"/>
              <a:t>Konstruiramo</a:t>
            </a:r>
            <a:r>
              <a:rPr lang="en-US" dirty="0"/>
              <a:t> </a:t>
            </a:r>
            <a:r>
              <a:rPr lang="en-US" dirty="0" err="1"/>
              <a:t>poligon</a:t>
            </a:r>
            <a:r>
              <a:rPr lang="en-US" dirty="0"/>
              <a:t>  </a:t>
            </a:r>
            <a:r>
              <a:rPr lang="en-US" i="1" dirty="0"/>
              <a:t>–Q 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potom</a:t>
            </a:r>
            <a:r>
              <a:rPr lang="en-US" dirty="0"/>
              <a:t> </a:t>
            </a:r>
            <a:r>
              <a:rPr lang="en-US" dirty="0" err="1"/>
              <a:t>poligon</a:t>
            </a:r>
            <a:r>
              <a:rPr lang="en-US" dirty="0"/>
              <a:t> </a:t>
            </a:r>
            <a:r>
              <a:rPr lang="en-US" i="1" dirty="0"/>
              <a:t>P + (–Q)</a:t>
            </a:r>
            <a:r>
              <a:rPr lang="en-US" dirty="0"/>
              <a:t> </a:t>
            </a:r>
          </a:p>
          <a:p>
            <a:endParaRPr lang="en-US" dirty="0"/>
          </a:p>
          <a:p>
            <a:r>
              <a:rPr lang="en-US" dirty="0" err="1"/>
              <a:t>Udaljenost</a:t>
            </a:r>
            <a:r>
              <a:rPr lang="en-US" dirty="0"/>
              <a:t> se </a:t>
            </a:r>
            <a:r>
              <a:rPr lang="en-US" dirty="0" err="1"/>
              <a:t>postiže</a:t>
            </a:r>
            <a:r>
              <a:rPr lang="en-US" dirty="0"/>
              <a:t>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dirty="0" err="1"/>
              <a:t>ishodišta</a:t>
            </a:r>
            <a:r>
              <a:rPr lang="en-US" dirty="0"/>
              <a:t> 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poligona</a:t>
            </a:r>
            <a:r>
              <a:rPr lang="en-US" dirty="0"/>
              <a:t> </a:t>
            </a:r>
            <a:r>
              <a:rPr lang="hr-HR" i="1" dirty="0"/>
              <a:t>P </a:t>
            </a:r>
            <a:r>
              <a:rPr lang="en-US" i="1" dirty="0"/>
              <a:t>–</a:t>
            </a:r>
            <a:r>
              <a:rPr lang="hr-HR" i="1" dirty="0"/>
              <a:t> Q</a:t>
            </a:r>
            <a:endParaRPr lang="en-US" dirty="0"/>
          </a:p>
          <a:p>
            <a:endParaRPr lang="hr-HR" i="1" dirty="0"/>
          </a:p>
          <a:p>
            <a:r>
              <a:rPr lang="en-US" dirty="0"/>
              <a:t>Ako se </a:t>
            </a:r>
            <a:r>
              <a:rPr lang="en-US" dirty="0" err="1"/>
              <a:t>poligoni</a:t>
            </a:r>
            <a:r>
              <a:rPr lang="en-US" dirty="0"/>
              <a:t> </a:t>
            </a:r>
            <a:r>
              <a:rPr lang="en-US" dirty="0" err="1"/>
              <a:t>presijecaju</a:t>
            </a:r>
            <a:r>
              <a:rPr lang="en-US" dirty="0"/>
              <a:t> - </a:t>
            </a:r>
            <a:r>
              <a:rPr lang="en-US" i="1" dirty="0"/>
              <a:t>(</a:t>
            </a:r>
            <a:r>
              <a:rPr lang="en-US" i="1" dirty="0">
                <a:latin typeface="Aptos Display"/>
              </a:rPr>
              <a:t>0,0</a:t>
            </a:r>
            <a:r>
              <a:rPr lang="en-US" i="1" dirty="0"/>
              <a:t>)</a:t>
            </a:r>
            <a:r>
              <a:rPr lang="en-US" dirty="0"/>
              <a:t> </a:t>
            </a:r>
            <a:r>
              <a:rPr lang="hr-HR" dirty="0"/>
              <a:t>∈ </a:t>
            </a:r>
            <a:r>
              <a:rPr lang="hr-HR" i="1" dirty="0"/>
              <a:t>P </a:t>
            </a:r>
            <a:r>
              <a:rPr lang="en-US" i="1" dirty="0"/>
              <a:t>–</a:t>
            </a:r>
            <a:r>
              <a:rPr lang="hr-HR" i="1" dirty="0"/>
              <a:t> Q </a:t>
            </a:r>
            <a:endParaRPr lang="hr-HR" dirty="0"/>
          </a:p>
          <a:p>
            <a:pPr marL="0" indent="0">
              <a:buNone/>
            </a:pPr>
            <a:r>
              <a:rPr lang="hr-HR" dirty="0"/>
              <a:t>   </a:t>
            </a:r>
            <a:r>
              <a:rPr lang="hr-HR" i="1" dirty="0"/>
              <a:t>(postoje a ∈ P i b ∈ Q takvi da a </a:t>
            </a:r>
            <a:r>
              <a:rPr lang="en-US" i="1"/>
              <a:t>– b = (</a:t>
            </a:r>
            <a:r>
              <a:rPr lang="en-US" i="1">
                <a:latin typeface="Aptos"/>
              </a:rPr>
              <a:t>0, 0</a:t>
            </a:r>
            <a:r>
              <a:rPr lang="en-US" i="1"/>
              <a:t>))</a:t>
            </a:r>
            <a:endParaRPr lang="hr-HR" dirty="0"/>
          </a:p>
          <a:p>
            <a:pPr marL="457200" lvl="1" indent="0">
              <a:buNone/>
            </a:pPr>
            <a:endParaRPr lang="en-US" i="1" dirty="0"/>
          </a:p>
          <a:p>
            <a:endParaRPr lang="en-US" dirty="0"/>
          </a:p>
          <a:p>
            <a:endParaRPr lang="en-US" dirty="0"/>
          </a:p>
          <a:p>
            <a:endParaRPr lang="en-US" i="1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 descr="A close-up of a black and white text&#10;&#10;AI-generated content may be incorrect.">
            <a:extLst>
              <a:ext uri="{FF2B5EF4-FFF2-40B4-BE49-F238E27FC236}">
                <a16:creationId xmlns:a16="http://schemas.microsoft.com/office/drawing/2014/main" id="{177A2F12-6376-8D19-F049-C5898DF7B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774" y="1948384"/>
            <a:ext cx="1995684" cy="57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16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71F7129-75E8-C803-FE8D-4176FE451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-1943"/>
            <a:ext cx="9436008" cy="1024218"/>
          </a:xfrm>
        </p:spPr>
        <p:txBody>
          <a:bodyPr/>
          <a:lstStyle/>
          <a:p>
            <a:r>
              <a:rPr lang="en-US" dirty="0" err="1"/>
              <a:t>Objašnjenje</a:t>
            </a:r>
            <a:r>
              <a:rPr lang="en-US" dirty="0"/>
              <a:t> </a:t>
            </a:r>
            <a:r>
              <a:rPr lang="en-US" dirty="0" err="1"/>
              <a:t>koda</a:t>
            </a:r>
          </a:p>
        </p:txBody>
      </p:sp>
      <p:pic>
        <p:nvPicPr>
          <p:cNvPr id="4" name="Content Placeholder 3" descr="A black and white drawing of a hexagon&#10;&#10;AI-generated content may be incorrect.">
            <a:extLst>
              <a:ext uri="{FF2B5EF4-FFF2-40B4-BE49-F238E27FC236}">
                <a16:creationId xmlns:a16="http://schemas.microsoft.com/office/drawing/2014/main" id="{776CC48E-13F8-57D1-6A36-E1B080008F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3793" t="11899" r="15348" b="6329"/>
          <a:stretch>
            <a:fillRect/>
          </a:stretch>
        </p:blipFill>
        <p:spPr>
          <a:xfrm>
            <a:off x="7829088" y="1940849"/>
            <a:ext cx="3686334" cy="36238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4EC6F2-4811-EA7F-D31D-F9239EB68FCD}"/>
              </a:ext>
            </a:extLst>
          </p:cNvPr>
          <p:cNvSpPr txBox="1"/>
          <p:nvPr/>
        </p:nvSpPr>
        <p:spPr>
          <a:xfrm>
            <a:off x="1478819" y="1017894"/>
            <a:ext cx="51057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Funkcija</a:t>
            </a:r>
            <a:r>
              <a:rPr lang="en-US" dirty="0"/>
              <a:t> </a:t>
            </a:r>
            <a:r>
              <a:rPr lang="en-US" dirty="0" err="1"/>
              <a:t>je_li_tocka_unutra</a:t>
            </a:r>
          </a:p>
        </p:txBody>
      </p:sp>
      <p:pic>
        <p:nvPicPr>
          <p:cNvPr id="9" name="Picture 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55A72C3-BF53-2F03-2C32-C69D768C49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873" t="20263" r="47474" b="5556"/>
          <a:stretch>
            <a:fillRect/>
          </a:stretch>
        </p:blipFill>
        <p:spPr>
          <a:xfrm>
            <a:off x="1474385" y="1378722"/>
            <a:ext cx="4135861" cy="4960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074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19480-6013-0669-144B-129932DC6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-468406"/>
            <a:ext cx="10018713" cy="1752599"/>
          </a:xfrm>
        </p:spPr>
        <p:txBody>
          <a:bodyPr/>
          <a:lstStyle/>
          <a:p>
            <a:r>
              <a:rPr lang="en-US" dirty="0" err="1"/>
              <a:t>Objašnjenje</a:t>
            </a:r>
            <a:r>
              <a:rPr lang="en-US" dirty="0"/>
              <a:t> </a:t>
            </a:r>
            <a:r>
              <a:rPr lang="en-US" dirty="0" err="1"/>
              <a:t>koda</a:t>
            </a: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C2CB929-2221-811E-A306-C9F48DEC62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56" t="61765" r="47697" b="10131"/>
          <a:stretch>
            <a:fillRect/>
          </a:stretch>
        </p:blipFill>
        <p:spPr>
          <a:xfrm>
            <a:off x="6419765" y="1490383"/>
            <a:ext cx="5095881" cy="23196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5C4460-3A6C-89FD-CDAB-BF92D3575F02}"/>
              </a:ext>
            </a:extLst>
          </p:cNvPr>
          <p:cNvSpPr txBox="1"/>
          <p:nvPr/>
        </p:nvSpPr>
        <p:spPr>
          <a:xfrm>
            <a:off x="1412460" y="914736"/>
            <a:ext cx="1025042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Funkcije </a:t>
            </a:r>
            <a:r>
              <a:rPr lang="en-US" dirty="0" err="1"/>
              <a:t>udaljenost_dvije_tocke,udaljenost_brida_i_tocke</a:t>
            </a:r>
            <a:r>
              <a:rPr lang="en-US" dirty="0"/>
              <a:t> </a:t>
            </a:r>
            <a:r>
              <a:rPr lang="en-US" dirty="0" err="1"/>
              <a:t>i</a:t>
            </a:r>
            <a:r>
              <a:rPr lang="en-US" dirty="0"/>
              <a:t> </a:t>
            </a:r>
            <a:r>
              <a:rPr lang="en-US" dirty="0" err="1"/>
              <a:t>minimalna_udaljenost_tocke_i_poligona</a:t>
            </a:r>
          </a:p>
        </p:txBody>
      </p:sp>
      <p:pic>
        <p:nvPicPr>
          <p:cNvPr id="9" name="Content Placeholder 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A5D152B-70A3-F120-FA2D-B93FFE587D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6984" t="14629" r="54467" b="27856"/>
          <a:stretch>
            <a:fillRect/>
          </a:stretch>
        </p:blipFill>
        <p:spPr>
          <a:xfrm>
            <a:off x="1483128" y="1495824"/>
            <a:ext cx="4675881" cy="5033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987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E504F-05E1-0083-CACC-D059B94A0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-42582"/>
            <a:ext cx="10018713" cy="1752599"/>
          </a:xfrm>
        </p:spPr>
        <p:txBody>
          <a:bodyPr/>
          <a:lstStyle/>
          <a:p>
            <a:r>
              <a:rPr lang="en-US" dirty="0" err="1"/>
              <a:t>Objašnjenje</a:t>
            </a:r>
            <a:r>
              <a:rPr lang="en-US" dirty="0"/>
              <a:t> </a:t>
            </a:r>
            <a:r>
              <a:rPr lang="en-US" dirty="0" err="1"/>
              <a:t>koda</a:t>
            </a:r>
          </a:p>
        </p:txBody>
      </p:sp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BD601AE2-ED66-882E-D3F4-FC5C888E41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75" t="81046" r="49001" b="2778"/>
          <a:stretch>
            <a:fillRect/>
          </a:stretch>
        </p:blipFill>
        <p:spPr>
          <a:xfrm>
            <a:off x="5401897" y="1344706"/>
            <a:ext cx="6101550" cy="1658480"/>
          </a:xfrm>
          <a:prstGeom prst="rect">
            <a:avLst/>
          </a:prstGeom>
        </p:spPr>
      </p:pic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4B2080E-13B3-CF75-7CD3-056905478F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8221" t="19654" r="52411" b="11447"/>
          <a:stretch>
            <a:fillRect/>
          </a:stretch>
        </p:blipFill>
        <p:spPr>
          <a:xfrm>
            <a:off x="982602" y="1344705"/>
            <a:ext cx="4122352" cy="5220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0845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91B86-FDEB-A177-226D-8692BC5A9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5080"/>
            <a:ext cx="10018713" cy="1752599"/>
          </a:xfrm>
        </p:spPr>
        <p:txBody>
          <a:bodyPr/>
          <a:lstStyle/>
          <a:p>
            <a:r>
              <a:rPr lang="en-US" dirty="0" err="1"/>
              <a:t>Provjera</a:t>
            </a:r>
            <a:r>
              <a:rPr lang="en-US" dirty="0"/>
              <a:t> </a:t>
            </a:r>
            <a:r>
              <a:rPr lang="en-US" dirty="0" err="1"/>
              <a:t>složenosti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F06F8-BF0E-B071-8EA5-DBF447653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338943"/>
            <a:ext cx="10018713" cy="4539343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err="1"/>
              <a:t>Funkcija</a:t>
            </a:r>
            <a:r>
              <a:rPr lang="en-US" dirty="0"/>
              <a:t> minimalna_udaljenost_2_poligona(P,Q) 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/>
              <a:t> </a:t>
            </a: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BE9A0D1B-DFB2-D563-B722-305EF36C6000}"/>
              </a:ext>
            </a:extLst>
          </p:cNvPr>
          <p:cNvSpPr/>
          <p:nvPr/>
        </p:nvSpPr>
        <p:spPr>
          <a:xfrm rot="16200000">
            <a:off x="5700262" y="-1533647"/>
            <a:ext cx="1277739" cy="864036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A5C2B9-8563-EC27-E1C5-0F49EB3D42E5}"/>
              </a:ext>
            </a:extLst>
          </p:cNvPr>
          <p:cNvSpPr txBox="1"/>
          <p:nvPr/>
        </p:nvSpPr>
        <p:spPr>
          <a:xfrm>
            <a:off x="1279586" y="3608428"/>
            <a:ext cx="1109128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negativni_poligon(Q)  +  </a:t>
            </a:r>
            <a:r>
              <a:rPr lang="en-US" dirty="0" err="1"/>
              <a:t>minowski</a:t>
            </a:r>
            <a:r>
              <a:rPr lang="en-US" dirty="0"/>
              <a:t>(</a:t>
            </a:r>
            <a:r>
              <a:rPr lang="en-US" dirty="0" err="1"/>
              <a:t>P,NegativQ</a:t>
            </a:r>
            <a:r>
              <a:rPr lang="en-US" dirty="0"/>
              <a:t>)  +  </a:t>
            </a:r>
            <a:r>
              <a:rPr lang="en-US" dirty="0" err="1"/>
              <a:t>minimalna_udaljenost_tocke_I_poligona</a:t>
            </a:r>
            <a:r>
              <a:rPr lang="en-US" dirty="0"/>
              <a:t>(</a:t>
            </a:r>
            <a:r>
              <a:rPr lang="en-US" dirty="0" err="1"/>
              <a:t>Minowski,ishodiste</a:t>
            </a:r>
            <a:r>
              <a:rPr lang="en-US" dirty="0"/>
              <a:t>)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0A8BA1B9-0A57-DD3E-8135-F3671246D04C}"/>
              </a:ext>
            </a:extLst>
          </p:cNvPr>
          <p:cNvSpPr/>
          <p:nvPr/>
        </p:nvSpPr>
        <p:spPr>
          <a:xfrm rot="16200000">
            <a:off x="8182203" y="2298125"/>
            <a:ext cx="885854" cy="4242533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9AAFA3-5A69-88FF-0F07-550C2FC9D15D}"/>
              </a:ext>
            </a:extLst>
          </p:cNvPr>
          <p:cNvSpPr txBox="1"/>
          <p:nvPr/>
        </p:nvSpPr>
        <p:spPr>
          <a:xfrm>
            <a:off x="4728609" y="5036070"/>
            <a:ext cx="74638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|</a:t>
            </a:r>
            <a:r>
              <a:rPr lang="en-US" dirty="0" err="1"/>
              <a:t>Minowski</a:t>
            </a:r>
            <a:r>
              <a:rPr lang="en-US" dirty="0"/>
              <a:t>| * </a:t>
            </a:r>
            <a:r>
              <a:rPr lang="en-US" dirty="0" err="1"/>
              <a:t>udaljenost_brida_i_tocke</a:t>
            </a:r>
            <a:r>
              <a:rPr lang="en-US" dirty="0"/>
              <a:t>(</a:t>
            </a:r>
            <a:r>
              <a:rPr lang="en-US" dirty="0" err="1"/>
              <a:t>Minowski</a:t>
            </a:r>
            <a:r>
              <a:rPr lang="en-US" dirty="0"/>
              <a:t>[i-1],</a:t>
            </a:r>
            <a:r>
              <a:rPr lang="en-US" dirty="0" err="1"/>
              <a:t>Minowski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],</a:t>
            </a:r>
            <a:r>
              <a:rPr lang="en-US" dirty="0" err="1"/>
              <a:t>ishodiste</a:t>
            </a:r>
            <a:r>
              <a:rPr lang="en-US" dirty="0"/>
              <a:t>)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71165452-05F8-9B07-DA4A-47F15759563A}"/>
              </a:ext>
            </a:extLst>
          </p:cNvPr>
          <p:cNvSpPr/>
          <p:nvPr/>
        </p:nvSpPr>
        <p:spPr>
          <a:xfrm rot="16200000">
            <a:off x="8263846" y="4426282"/>
            <a:ext cx="711683" cy="268587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A9FBF3-A6BE-F55E-87B3-1C9A3A1404AA}"/>
              </a:ext>
            </a:extLst>
          </p:cNvPr>
          <p:cNvSpPr txBox="1"/>
          <p:nvPr/>
        </p:nvSpPr>
        <p:spPr>
          <a:xfrm>
            <a:off x="6489875" y="6128637"/>
            <a:ext cx="605752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Udaljenost_dvije_tocke</a:t>
            </a:r>
            <a:r>
              <a:rPr lang="en-US" dirty="0"/>
              <a:t>(</a:t>
            </a:r>
            <a:r>
              <a:rPr lang="en-US" dirty="0" err="1"/>
              <a:t>ishodiste</a:t>
            </a:r>
            <a:r>
              <a:rPr lang="en-US" dirty="0"/>
              <a:t>, </a:t>
            </a:r>
            <a:r>
              <a:rPr lang="en-US" dirty="0" err="1"/>
              <a:t>najbliza_tocka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609148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F242D-8047-6608-6A29-170ECF78E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Provjera</a:t>
            </a:r>
            <a:r>
              <a:rPr lang="en-US" dirty="0"/>
              <a:t> </a:t>
            </a:r>
            <a:r>
              <a:rPr lang="en-US" dirty="0" err="1"/>
              <a:t>složenosti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42D9F-33D3-F387-EF63-626F31033C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037079"/>
            <a:ext cx="10018713" cy="3124201"/>
          </a:xfrm>
        </p:spPr>
        <p:txBody>
          <a:bodyPr>
            <a:normAutofit fontScale="92500"/>
          </a:bodyPr>
          <a:lstStyle/>
          <a:p>
            <a:r>
              <a:rPr lang="en-US" dirty="0" err="1"/>
              <a:t>negativni_poligon</a:t>
            </a:r>
            <a:r>
              <a:rPr lang="en-US" dirty="0"/>
              <a:t>(Q) - O(|Q|)</a:t>
            </a:r>
          </a:p>
          <a:p>
            <a:pPr>
              <a:buClr>
                <a:srgbClr val="1287C3"/>
              </a:buClr>
            </a:pPr>
            <a:r>
              <a:rPr lang="en-US" dirty="0" err="1"/>
              <a:t>minowski</a:t>
            </a:r>
            <a:r>
              <a:rPr lang="en-US" dirty="0"/>
              <a:t>(</a:t>
            </a:r>
            <a:r>
              <a:rPr lang="en-US" dirty="0" err="1"/>
              <a:t>P,NegativQ</a:t>
            </a:r>
            <a:r>
              <a:rPr lang="en-US" dirty="0"/>
              <a:t>) - Q(|P| + |Q|)</a:t>
            </a:r>
          </a:p>
          <a:p>
            <a:pPr>
              <a:buClr>
                <a:srgbClr val="1287C3"/>
              </a:buClr>
            </a:pPr>
            <a:r>
              <a:rPr lang="en-US" dirty="0" err="1"/>
              <a:t>udaljenost_brida_i_tocke</a:t>
            </a:r>
            <a:r>
              <a:rPr lang="en-US" dirty="0"/>
              <a:t> – O(1)</a:t>
            </a:r>
          </a:p>
          <a:p>
            <a:pPr>
              <a:buClr>
                <a:srgbClr val="1287C3"/>
              </a:buClr>
            </a:pPr>
            <a:r>
              <a:rPr lang="en-US" dirty="0" err="1"/>
              <a:t>minimalna_udaljenost_tocke_i_poligona</a:t>
            </a:r>
            <a:r>
              <a:rPr lang="en-US" dirty="0"/>
              <a:t> – (|P| + |Q|) * O(1) = O(|P| + |Q|)</a:t>
            </a:r>
          </a:p>
          <a:p>
            <a:pPr>
              <a:buClr>
                <a:srgbClr val="1287C3"/>
              </a:buClr>
            </a:pPr>
            <a:endParaRPr lang="en-US" dirty="0"/>
          </a:p>
          <a:p>
            <a:pPr>
              <a:buClr>
                <a:srgbClr val="1287C3"/>
              </a:buClr>
            </a:pPr>
            <a:r>
              <a:rPr lang="en-US" dirty="0"/>
              <a:t>Minimalna_udaljenost</a:t>
            </a:r>
            <a:r>
              <a:rPr lang="en-US"/>
              <a:t>_2_poligona – O(Q) + O(|P| + |Q|) + O(|P| + |Q|)  =  O(|P| + |Q|)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618F6B-7398-BAA3-86D2-37450CB90DA5}"/>
              </a:ext>
            </a:extLst>
          </p:cNvPr>
          <p:cNvSpPr/>
          <p:nvPr/>
        </p:nvSpPr>
        <p:spPr>
          <a:xfrm>
            <a:off x="9880720" y="4440144"/>
            <a:ext cx="1442262" cy="7166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8126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A1C79-0569-459F-E128-EAE5B3D58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000000"/>
                </a:solidFill>
                <a:latin typeface="Aptos Display"/>
              </a:rPr>
              <a:t>Vrijeme</a:t>
            </a:r>
            <a:r>
              <a:rPr lang="en-US" dirty="0">
                <a:solidFill>
                  <a:srgbClr val="000000"/>
                </a:solidFill>
                <a:latin typeface="Aptos Display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ptos Display"/>
              </a:rPr>
              <a:t>izračuna</a:t>
            </a:r>
            <a:r>
              <a:rPr lang="en-US" dirty="0">
                <a:solidFill>
                  <a:srgbClr val="000000"/>
                </a:solidFill>
                <a:latin typeface="Aptos Display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ptos Display"/>
              </a:rPr>
              <a:t>udaljenosti</a:t>
            </a:r>
            <a:endParaRPr lang="en-US" dirty="0" err="1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5877C6F-3330-4BD3-9288-D1065274E7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9138106"/>
              </p:ext>
            </p:extLst>
          </p:nvPr>
        </p:nvGraphicFramePr>
        <p:xfrm>
          <a:off x="1616623" y="2342156"/>
          <a:ext cx="8970701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4794">
                  <a:extLst>
                    <a:ext uri="{9D8B030D-6E8A-4147-A177-3AD203B41FA5}">
                      <a16:colId xmlns:a16="http://schemas.microsoft.com/office/drawing/2014/main" val="2317145722"/>
                    </a:ext>
                  </a:extLst>
                </a:gridCol>
                <a:gridCol w="3663861">
                  <a:extLst>
                    <a:ext uri="{9D8B030D-6E8A-4147-A177-3AD203B41FA5}">
                      <a16:colId xmlns:a16="http://schemas.microsoft.com/office/drawing/2014/main" val="1187464655"/>
                    </a:ext>
                  </a:extLst>
                </a:gridCol>
                <a:gridCol w="4002046">
                  <a:extLst>
                    <a:ext uri="{9D8B030D-6E8A-4147-A177-3AD203B41FA5}">
                      <a16:colId xmlns:a16="http://schemas.microsoft.com/office/drawing/2014/main" val="21784764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# </a:t>
                      </a:r>
                      <a:r>
                        <a:rPr lang="en-US" dirty="0" err="1"/>
                        <a:t>tocaka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Efikasni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algoritam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 dirty="0" err="1">
                          <a:solidFill>
                            <a:srgbClr val="FFFFFF"/>
                          </a:solidFill>
                          <a:latin typeface="Aptos"/>
                        </a:rPr>
                        <a:t>Neefikasni</a:t>
                      </a:r>
                      <a:r>
                        <a:rPr lang="en-US" sz="1800" b="1" i="0" u="none" strike="noStrike" noProof="0" dirty="0">
                          <a:solidFill>
                            <a:srgbClr val="FFFFFF"/>
                          </a:solidFill>
                          <a:latin typeface="Aptos"/>
                        </a:rPr>
                        <a:t> </a:t>
                      </a:r>
                      <a:r>
                        <a:rPr lang="en-US" sz="1800" b="1" i="0" u="none" strike="noStrike" noProof="0" dirty="0" err="1">
                          <a:solidFill>
                            <a:srgbClr val="FFFFFF"/>
                          </a:solidFill>
                          <a:latin typeface="Aptos"/>
                        </a:rPr>
                        <a:t>algoritam</a:t>
                      </a:r>
                      <a:endParaRPr 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89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 µs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 µs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4381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 µs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85967 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µs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98800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4 028 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µs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8.39 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969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100 000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1.5s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5384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1 000 000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17.70s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1445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10 000 000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2min 56s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57159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27061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3B70A-1599-8ACF-8AC1-3A3EEE3D5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Zadatak</a:t>
            </a:r>
            <a:r>
              <a:rPr lang="en-US" dirty="0"/>
              <a:t>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3A1C4-D592-2EB7-B01D-209AEE40F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3 </a:t>
            </a:r>
            <a:r>
              <a:rPr lang="en-US" dirty="0" err="1"/>
              <a:t>grada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reprezentirana</a:t>
            </a:r>
            <a:r>
              <a:rPr lang="en-US" dirty="0"/>
              <a:t> s 3 </a:t>
            </a:r>
            <a:r>
              <a:rPr lang="en-US" dirty="0" err="1"/>
              <a:t>poligona</a:t>
            </a:r>
            <a:r>
              <a:rPr lang="en-US" dirty="0"/>
              <a:t> </a:t>
            </a:r>
          </a:p>
          <a:p>
            <a:r>
              <a:rPr lang="en-US" dirty="0" err="1"/>
              <a:t>Zadane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koordinate m </a:t>
            </a:r>
            <a:r>
              <a:rPr lang="en-US" dirty="0" err="1"/>
              <a:t>brda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Tražimo</a:t>
            </a:r>
            <a:r>
              <a:rPr lang="en-US" dirty="0"/>
              <a:t> </a:t>
            </a:r>
            <a:r>
              <a:rPr lang="en-US" dirty="0" err="1"/>
              <a:t>sva</a:t>
            </a:r>
            <a:r>
              <a:rPr lang="en-US" dirty="0"/>
              <a:t> </a:t>
            </a:r>
            <a:r>
              <a:rPr lang="en-US" dirty="0" err="1"/>
              <a:t>brda</a:t>
            </a:r>
            <a:r>
              <a:rPr lang="en-US" dirty="0"/>
              <a:t> 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kojima</a:t>
            </a:r>
            <a:r>
              <a:rPr lang="en-US" dirty="0"/>
              <a:t> se idol </a:t>
            </a:r>
            <a:r>
              <a:rPr lang="en-US" dirty="0" err="1"/>
              <a:t>može</a:t>
            </a:r>
            <a:r>
              <a:rPr lang="en-US" dirty="0"/>
              <a:t> </a:t>
            </a:r>
            <a:r>
              <a:rPr lang="en-US" dirty="0" err="1"/>
              <a:t>izbalansirati</a:t>
            </a:r>
          </a:p>
          <a:p>
            <a:endParaRPr lang="en-US" dirty="0"/>
          </a:p>
          <a:p>
            <a:r>
              <a:rPr lang="en-US" dirty="0"/>
              <a:t>Idol je </a:t>
            </a:r>
            <a:r>
              <a:rPr lang="en-US" dirty="0" err="1"/>
              <a:t>balansiran</a:t>
            </a:r>
            <a:r>
              <a:rPr lang="en-US" dirty="0"/>
              <a:t> </a:t>
            </a:r>
            <a:r>
              <a:rPr lang="en-US" dirty="0" err="1"/>
              <a:t>ako</a:t>
            </a:r>
            <a:r>
              <a:rPr lang="en-US" dirty="0"/>
              <a:t> </a:t>
            </a:r>
            <a:r>
              <a:rPr lang="en-US" dirty="0" err="1"/>
              <a:t>možemo</a:t>
            </a:r>
            <a:r>
              <a:rPr lang="en-US" dirty="0"/>
              <a:t> </a:t>
            </a:r>
            <a:r>
              <a:rPr lang="en-US" dirty="0" err="1"/>
              <a:t>postaviti</a:t>
            </a:r>
            <a:r>
              <a:rPr lang="en-US" dirty="0"/>
              <a:t> tri </a:t>
            </a:r>
            <a:r>
              <a:rPr lang="en-US" dirty="0" err="1"/>
              <a:t>oltara</a:t>
            </a:r>
            <a:r>
              <a:rPr lang="en-US" dirty="0"/>
              <a:t>, </a:t>
            </a:r>
            <a:r>
              <a:rPr lang="en-US" dirty="0" err="1"/>
              <a:t>svaki</a:t>
            </a:r>
            <a:r>
              <a:rPr lang="en-US" dirty="0"/>
              <a:t> u </a:t>
            </a:r>
            <a:r>
              <a:rPr lang="en-US" dirty="0" err="1"/>
              <a:t>jedan</a:t>
            </a:r>
            <a:r>
              <a:rPr lang="en-US" dirty="0"/>
              <a:t> grad, </a:t>
            </a:r>
            <a:r>
              <a:rPr lang="en-US" dirty="0" err="1"/>
              <a:t>tako</a:t>
            </a:r>
            <a:r>
              <a:rPr lang="en-US" dirty="0"/>
              <a:t> da je idol u </a:t>
            </a:r>
            <a:r>
              <a:rPr lang="en-US" dirty="0" err="1"/>
              <a:t>težištu</a:t>
            </a:r>
            <a:r>
              <a:rPr lang="en-US" dirty="0"/>
              <a:t> </a:t>
            </a:r>
            <a:r>
              <a:rPr lang="en-US" dirty="0" err="1"/>
              <a:t>trokuta</a:t>
            </a:r>
            <a:r>
              <a:rPr lang="en-US" dirty="0"/>
              <a:t> koji </a:t>
            </a:r>
            <a:r>
              <a:rPr lang="en-US" dirty="0" err="1"/>
              <a:t>tvore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81293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ABAB7-B65B-6729-EAA9-FBBB3FCFF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Zadatak</a:t>
            </a:r>
            <a:r>
              <a:rPr lang="en-US" dirty="0"/>
              <a:t> 1 - </a:t>
            </a:r>
            <a:r>
              <a:rPr lang="en-US" dirty="0" err="1"/>
              <a:t>rješenje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11FC3-7842-2C1B-56DA-C97ECDCF5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Za </a:t>
            </a:r>
            <a:r>
              <a:rPr lang="en-US" dirty="0" err="1"/>
              <a:t>oltare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točkama</a:t>
            </a:r>
            <a:r>
              <a:rPr lang="en-US" dirty="0"/>
              <a:t> (x</a:t>
            </a:r>
            <a:r>
              <a:rPr lang="en-US" baseline="-25000" dirty="0"/>
              <a:t>1</a:t>
            </a:r>
            <a:r>
              <a:rPr lang="en-US" dirty="0"/>
              <a:t>, y</a:t>
            </a:r>
            <a:r>
              <a:rPr lang="en-US" baseline="-25000" dirty="0"/>
              <a:t>1</a:t>
            </a:r>
            <a:r>
              <a:rPr lang="en-US" dirty="0"/>
              <a:t>), (x</a:t>
            </a:r>
            <a:r>
              <a:rPr lang="en-US" baseline="-25000" dirty="0"/>
              <a:t>2</a:t>
            </a:r>
            <a:r>
              <a:rPr lang="en-US" dirty="0"/>
              <a:t>, y</a:t>
            </a:r>
            <a:r>
              <a:rPr lang="en-US" baseline="-25000" dirty="0"/>
              <a:t>2</a:t>
            </a:r>
            <a:r>
              <a:rPr lang="en-US" dirty="0"/>
              <a:t>), (x</a:t>
            </a:r>
            <a:r>
              <a:rPr lang="en-US" baseline="-25000" dirty="0"/>
              <a:t>3</a:t>
            </a:r>
            <a:r>
              <a:rPr lang="en-US" dirty="0"/>
              <a:t>, y</a:t>
            </a:r>
            <a:r>
              <a:rPr lang="en-US" baseline="-25000" dirty="0"/>
              <a:t>3</a:t>
            </a:r>
            <a:r>
              <a:rPr lang="en-US" dirty="0"/>
              <a:t>), </a:t>
            </a:r>
            <a:r>
              <a:rPr lang="en-US" dirty="0" err="1"/>
              <a:t>težište</a:t>
            </a:r>
            <a:r>
              <a:rPr lang="en-US" dirty="0"/>
              <a:t> se </a:t>
            </a:r>
            <a:r>
              <a:rPr lang="en-US" dirty="0" err="1"/>
              <a:t>nalazi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 ((x</a:t>
            </a:r>
            <a:r>
              <a:rPr lang="en-US" baseline="-25000" dirty="0"/>
              <a:t>1</a:t>
            </a:r>
            <a:r>
              <a:rPr lang="en-US" dirty="0"/>
              <a:t> + x</a:t>
            </a:r>
            <a:r>
              <a:rPr lang="en-US" baseline="-25000" dirty="0"/>
              <a:t>2</a:t>
            </a:r>
            <a:r>
              <a:rPr lang="en-US" dirty="0"/>
              <a:t> + x</a:t>
            </a:r>
            <a:r>
              <a:rPr lang="en-US" baseline="-25000" dirty="0"/>
              <a:t>3</a:t>
            </a:r>
            <a:r>
              <a:rPr lang="en-US" dirty="0"/>
              <a:t>)/3, (y</a:t>
            </a:r>
            <a:r>
              <a:rPr lang="en-US" baseline="-25000" dirty="0"/>
              <a:t>1</a:t>
            </a:r>
            <a:r>
              <a:rPr lang="en-US" dirty="0"/>
              <a:t> + y</a:t>
            </a:r>
            <a:r>
              <a:rPr lang="en-US" baseline="-25000" dirty="0"/>
              <a:t>2</a:t>
            </a:r>
            <a:r>
              <a:rPr lang="en-US" dirty="0"/>
              <a:t> + y</a:t>
            </a:r>
            <a:r>
              <a:rPr lang="en-US" baseline="-25000" dirty="0"/>
              <a:t>3</a:t>
            </a:r>
            <a:r>
              <a:rPr lang="en-US" dirty="0"/>
              <a:t>)/3)</a:t>
            </a:r>
          </a:p>
          <a:p>
            <a:endParaRPr lang="en-US" dirty="0"/>
          </a:p>
          <a:p>
            <a:r>
              <a:rPr lang="en-US" dirty="0"/>
              <a:t>Za </a:t>
            </a:r>
            <a:r>
              <a:rPr lang="en-US" dirty="0" err="1"/>
              <a:t>poligone</a:t>
            </a:r>
            <a:r>
              <a:rPr lang="en-US" dirty="0"/>
              <a:t> </a:t>
            </a:r>
            <a:r>
              <a:rPr lang="en-US" dirty="0" err="1"/>
              <a:t>gradova</a:t>
            </a:r>
            <a:r>
              <a:rPr lang="en-US" dirty="0"/>
              <a:t> P, Q, R, </a:t>
            </a:r>
            <a:r>
              <a:rPr lang="en-US" dirty="0" err="1"/>
              <a:t>konstruiramo</a:t>
            </a:r>
            <a:r>
              <a:rPr lang="en-US" dirty="0"/>
              <a:t> </a:t>
            </a:r>
            <a:r>
              <a:rPr lang="en-US" dirty="0" err="1"/>
              <a:t>skup</a:t>
            </a:r>
            <a:r>
              <a:rPr lang="en-US" dirty="0"/>
              <a:t> (P + Q + R)/3</a:t>
            </a:r>
          </a:p>
          <a:p>
            <a:endParaRPr lang="en-US" dirty="0"/>
          </a:p>
          <a:p>
            <a:r>
              <a:rPr lang="en-US" dirty="0"/>
              <a:t>Za </a:t>
            </a:r>
            <a:r>
              <a:rPr lang="en-US" dirty="0" err="1"/>
              <a:t>svako</a:t>
            </a:r>
            <a:r>
              <a:rPr lang="en-US" dirty="0"/>
              <a:t> </a:t>
            </a:r>
            <a:r>
              <a:rPr lang="en-US" dirty="0" err="1"/>
              <a:t>brdo</a:t>
            </a:r>
            <a:r>
              <a:rPr lang="en-US" dirty="0"/>
              <a:t> </a:t>
            </a:r>
            <a:r>
              <a:rPr lang="en-US" dirty="0" err="1"/>
              <a:t>provjerimo</a:t>
            </a:r>
            <a:r>
              <a:rPr lang="en-US" dirty="0"/>
              <a:t> </a:t>
            </a:r>
            <a:r>
              <a:rPr lang="en-US" dirty="0" err="1"/>
              <a:t>nalazi</a:t>
            </a:r>
            <a:r>
              <a:rPr lang="en-US" dirty="0"/>
              <a:t> li se </a:t>
            </a:r>
            <a:r>
              <a:rPr lang="en-US" dirty="0" err="1"/>
              <a:t>unutar</a:t>
            </a:r>
            <a:r>
              <a:rPr lang="en-US" dirty="0"/>
              <a:t> </a:t>
            </a:r>
            <a:r>
              <a:rPr lang="en-US" dirty="0" err="1"/>
              <a:t>skupa</a:t>
            </a:r>
            <a:r>
              <a:rPr lang="en-US" dirty="0"/>
              <a:t> (P + Q + R)/3</a:t>
            </a:r>
          </a:p>
        </p:txBody>
      </p:sp>
    </p:spTree>
    <p:extLst>
      <p:ext uri="{BB962C8B-B14F-4D97-AF65-F5344CB8AC3E}">
        <p14:creationId xmlns:p14="http://schemas.microsoft.com/office/powerpoint/2010/main" val="2329740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6B6C6-1ED1-C1B4-D5E0-46FD9F687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Zadatak</a:t>
            </a:r>
            <a:r>
              <a:rPr lang="en-US" dirty="0"/>
              <a:t>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3EFAB-1629-106A-23F5-8F023B902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9176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4262A-5F93-6550-E174-A8B189228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Zadatak</a:t>
            </a:r>
            <a:r>
              <a:rPr lang="en-US" dirty="0"/>
              <a:t>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FE7BC-23EE-9F8F-B5E6-3878AF7CB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/>
              <a:t>Zadan je </a:t>
            </a:r>
            <a:r>
              <a:rPr lang="en-US" dirty="0" err="1"/>
              <a:t>niz</a:t>
            </a:r>
            <a:r>
              <a:rPr lang="en-US"/>
              <a:t> od n ≤ 100 000 </a:t>
            </a:r>
            <a:r>
              <a:rPr lang="en-US" dirty="0" err="1"/>
              <a:t>konveksnih</a:t>
            </a:r>
            <a:r>
              <a:rPr lang="en-US" dirty="0"/>
              <a:t> </a:t>
            </a:r>
            <a:r>
              <a:rPr lang="en-US" dirty="0" err="1"/>
              <a:t>poligona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Zadano</a:t>
            </a:r>
            <a:r>
              <a:rPr lang="en-US" dirty="0"/>
              <a:t> je q ≤ 100 000 </a:t>
            </a:r>
            <a:r>
              <a:rPr lang="en-US" dirty="0" err="1"/>
              <a:t>upita</a:t>
            </a:r>
            <a:endParaRPr lang="en-US"/>
          </a:p>
          <a:p>
            <a:endParaRPr lang="en-US" dirty="0"/>
          </a:p>
          <a:p>
            <a:r>
              <a:rPr lang="en-US" dirty="0"/>
              <a:t>Za </a:t>
            </a:r>
            <a:r>
              <a:rPr lang="en-US" dirty="0" err="1"/>
              <a:t>svaki</a:t>
            </a:r>
            <a:r>
              <a:rPr lang="en-US" dirty="0"/>
              <a:t> </a:t>
            </a:r>
            <a:r>
              <a:rPr lang="en-US" dirty="0" err="1"/>
              <a:t>upit</a:t>
            </a:r>
            <a:r>
              <a:rPr lang="en-US" dirty="0"/>
              <a:t> (l</a:t>
            </a:r>
            <a:r>
              <a:rPr lang="en-US" baseline="-25000" dirty="0"/>
              <a:t>i</a:t>
            </a:r>
            <a:r>
              <a:rPr lang="en-US" dirty="0"/>
              <a:t>, </a:t>
            </a:r>
            <a:r>
              <a:rPr lang="en-US" dirty="0" err="1"/>
              <a:t>r</a:t>
            </a:r>
            <a:r>
              <a:rPr lang="en-US" baseline="-25000" dirty="0" err="1"/>
              <a:t>i</a:t>
            </a:r>
            <a:r>
              <a:rPr lang="en-US" dirty="0"/>
              <a:t>) </a:t>
            </a:r>
            <a:r>
              <a:rPr lang="en-US" dirty="0" err="1"/>
              <a:t>potrebno</a:t>
            </a:r>
            <a:r>
              <a:rPr lang="en-US" dirty="0"/>
              <a:t> je </a:t>
            </a:r>
            <a:r>
              <a:rPr lang="en-US" dirty="0" err="1"/>
              <a:t>izračunati</a:t>
            </a:r>
            <a:r>
              <a:rPr lang="en-US" dirty="0"/>
              <a:t> </a:t>
            </a:r>
            <a:r>
              <a:rPr lang="en-US" dirty="0" err="1"/>
              <a:t>Minkowskijevu</a:t>
            </a:r>
            <a:r>
              <a:rPr lang="en-US" dirty="0"/>
              <a:t> </a:t>
            </a:r>
            <a:r>
              <a:rPr lang="en-US" dirty="0" err="1"/>
              <a:t>sumu</a:t>
            </a:r>
            <a:r>
              <a:rPr lang="en-US" dirty="0"/>
              <a:t> </a:t>
            </a:r>
            <a:r>
              <a:rPr lang="en-US" dirty="0" err="1"/>
              <a:t>poligona</a:t>
            </a:r>
            <a:r>
              <a:rPr lang="en-US" dirty="0"/>
              <a:t> </a:t>
            </a:r>
            <a:r>
              <a:rPr lang="en-US" dirty="0" err="1"/>
              <a:t>A</a:t>
            </a:r>
            <a:r>
              <a:rPr lang="en-US" baseline="-25000" dirty="0" err="1"/>
              <a:t>l_i</a:t>
            </a:r>
            <a:r>
              <a:rPr lang="en-US" dirty="0"/>
              <a:t> + A</a:t>
            </a:r>
            <a:r>
              <a:rPr lang="en-US" baseline="-25000" dirty="0"/>
              <a:t>l_i+1</a:t>
            </a:r>
            <a:r>
              <a:rPr lang="en-US" dirty="0"/>
              <a:t> + … + </a:t>
            </a:r>
            <a:r>
              <a:rPr lang="en-US" dirty="0" err="1"/>
              <a:t>A</a:t>
            </a:r>
            <a:r>
              <a:rPr lang="en-US" baseline="-25000" dirty="0" err="1"/>
              <a:t>r_I</a:t>
            </a:r>
            <a:endParaRPr lang="en-US" baseline="-25000"/>
          </a:p>
          <a:p>
            <a:pPr>
              <a:buClr>
                <a:srgbClr val="30ACEC">
                  <a:lumMod val="75000"/>
                </a:srgbClr>
              </a:buClr>
            </a:pPr>
            <a:endParaRPr lang="en-US" dirty="0"/>
          </a:p>
          <a:p>
            <a:r>
              <a:rPr lang="en-US" dirty="0"/>
              <a:t>Za </a:t>
            </a:r>
            <a:r>
              <a:rPr lang="en-US" dirty="0" err="1"/>
              <a:t>svaki</a:t>
            </a:r>
            <a:r>
              <a:rPr lang="en-US" dirty="0"/>
              <a:t> </a:t>
            </a:r>
            <a:r>
              <a:rPr lang="en-US" dirty="0" err="1"/>
              <a:t>upit</a:t>
            </a:r>
            <a:r>
              <a:rPr lang="en-US" dirty="0"/>
              <a:t> </a:t>
            </a:r>
            <a:r>
              <a:rPr lang="en-US" dirty="0" err="1"/>
              <a:t>treba</a:t>
            </a:r>
            <a:r>
              <a:rPr lang="en-US" dirty="0"/>
              <a:t> </a:t>
            </a:r>
            <a:r>
              <a:rPr lang="en-US" dirty="0" err="1"/>
              <a:t>ispisati</a:t>
            </a:r>
            <a:r>
              <a:rPr lang="en-US" dirty="0"/>
              <a:t> 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vrhova</a:t>
            </a:r>
            <a:r>
              <a:rPr lang="en-US" dirty="0"/>
              <a:t> </a:t>
            </a:r>
            <a:r>
              <a:rPr lang="en-US" dirty="0" err="1"/>
              <a:t>dobivenog</a:t>
            </a:r>
            <a:r>
              <a:rPr lang="en-US" dirty="0"/>
              <a:t> </a:t>
            </a:r>
            <a:r>
              <a:rPr lang="en-US" dirty="0" err="1"/>
              <a:t>poligona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4457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EE4F3-376E-4BF1-4AC8-BC65C5FBB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-3132"/>
            <a:ext cx="10018713" cy="1752599"/>
          </a:xfrm>
        </p:spPr>
        <p:txBody>
          <a:bodyPr/>
          <a:lstStyle/>
          <a:p>
            <a:r>
              <a:rPr lang="en-US" dirty="0" err="1"/>
              <a:t>Zadatak</a:t>
            </a:r>
            <a:r>
              <a:rPr lang="en-US" dirty="0"/>
              <a:t> 3 - </a:t>
            </a:r>
            <a:r>
              <a:rPr lang="en-US" dirty="0" err="1"/>
              <a:t>rješenje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EB9D3-E3ED-413B-A9E1-EABF895D1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383081"/>
            <a:ext cx="10018713" cy="312420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400" dirty="0"/>
              <a:t>ATP Dynamic Range Query </a:t>
            </a:r>
            <a:r>
              <a:rPr lang="en-US" sz="2400" dirty="0" err="1"/>
              <a:t>implementiran</a:t>
            </a:r>
            <a:r>
              <a:rPr lang="en-US" sz="2400" dirty="0"/>
              <a:t> </a:t>
            </a:r>
            <a:r>
              <a:rPr lang="en-US" sz="2400" dirty="0" err="1"/>
              <a:t>pomoću</a:t>
            </a:r>
            <a:r>
              <a:rPr lang="en-US" sz="2400" dirty="0"/>
              <a:t> </a:t>
            </a:r>
            <a:r>
              <a:rPr lang="en-US" sz="2400" dirty="0" err="1"/>
              <a:t>segmentnog</a:t>
            </a:r>
            <a:r>
              <a:rPr lang="en-US" sz="2400" dirty="0"/>
              <a:t> </a:t>
            </a:r>
            <a:r>
              <a:rPr lang="en-US" sz="2400" dirty="0" err="1"/>
              <a:t>stabla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Svaki </a:t>
            </a:r>
            <a:r>
              <a:rPr lang="en-US" sz="2400" dirty="0" err="1"/>
              <a:t>čvor</a:t>
            </a:r>
            <a:r>
              <a:rPr lang="en-US" sz="2400" dirty="0"/>
              <a:t> </a:t>
            </a:r>
            <a:r>
              <a:rPr lang="en-US" sz="2400" dirty="0" err="1"/>
              <a:t>sadrži</a:t>
            </a:r>
            <a:r>
              <a:rPr lang="en-US" sz="2400" dirty="0"/>
              <a:t> </a:t>
            </a:r>
            <a:r>
              <a:rPr lang="en-US" sz="2400" dirty="0" err="1"/>
              <a:t>konveksni</a:t>
            </a:r>
            <a:r>
              <a:rPr lang="en-US" sz="2400" dirty="0"/>
              <a:t> </a:t>
            </a:r>
            <a:r>
              <a:rPr lang="en-US" sz="2400" dirty="0" err="1"/>
              <a:t>poligon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 err="1"/>
              <a:t>Svaki</a:t>
            </a:r>
            <a:r>
              <a:rPr lang="en-US" sz="2400" dirty="0"/>
              <a:t> list </a:t>
            </a:r>
            <a:r>
              <a:rPr lang="en-US" sz="2400" dirty="0" err="1"/>
              <a:t>sadrži</a:t>
            </a:r>
            <a:r>
              <a:rPr lang="en-US" sz="2400" dirty="0"/>
              <a:t> </a:t>
            </a:r>
            <a:r>
              <a:rPr lang="en-US" sz="2400" dirty="0" err="1"/>
              <a:t>jedan</a:t>
            </a:r>
            <a:r>
              <a:rPr lang="en-US" sz="2400" dirty="0"/>
              <a:t> </a:t>
            </a:r>
            <a:r>
              <a:rPr lang="en-US" sz="2400" dirty="0" err="1"/>
              <a:t>poligon</a:t>
            </a:r>
            <a:r>
              <a:rPr lang="en-US" sz="2400" dirty="0"/>
              <a:t> </a:t>
            </a:r>
            <a:r>
              <a:rPr lang="en-US" sz="2400" dirty="0" err="1"/>
              <a:t>iz</a:t>
            </a:r>
            <a:r>
              <a:rPr lang="en-US" sz="2400" dirty="0"/>
              <a:t> </a:t>
            </a:r>
            <a:r>
              <a:rPr lang="en-US" sz="2400" dirty="0" err="1"/>
              <a:t>početnog</a:t>
            </a:r>
            <a:r>
              <a:rPr lang="en-US" sz="2400" dirty="0"/>
              <a:t>  </a:t>
            </a:r>
            <a:r>
              <a:rPr lang="en-US" sz="2400" dirty="0" err="1"/>
              <a:t>niza</a:t>
            </a:r>
            <a:r>
              <a:rPr lang="en-US" sz="2400" dirty="0"/>
              <a:t> </a:t>
            </a:r>
            <a:r>
              <a:rPr lang="en-US" sz="2400" dirty="0" err="1"/>
              <a:t>poligona</a:t>
            </a:r>
            <a:endParaRPr lang="en-US" sz="2400"/>
          </a:p>
          <a:p>
            <a:endParaRPr lang="en-US" sz="2400" dirty="0"/>
          </a:p>
          <a:p>
            <a:r>
              <a:rPr lang="en-US" sz="2400" dirty="0" err="1"/>
              <a:t>Stablo</a:t>
            </a:r>
            <a:r>
              <a:rPr lang="en-US" sz="2400" dirty="0"/>
              <a:t> </a:t>
            </a:r>
            <a:r>
              <a:rPr lang="en-US" sz="2400" dirty="0" err="1"/>
              <a:t>gradimo</a:t>
            </a:r>
            <a:r>
              <a:rPr lang="en-US" sz="2400" dirty="0"/>
              <a:t> </a:t>
            </a:r>
            <a:r>
              <a:rPr lang="en-US" sz="2400" dirty="0" err="1"/>
              <a:t>rekurzivno</a:t>
            </a:r>
            <a:r>
              <a:rPr lang="en-US" sz="2400" dirty="0"/>
              <a:t> </a:t>
            </a:r>
            <a:r>
              <a:rPr lang="en-US" sz="2400" dirty="0" err="1"/>
              <a:t>tako</a:t>
            </a:r>
            <a:r>
              <a:rPr lang="en-US" sz="2400" dirty="0"/>
              <a:t> da </a:t>
            </a:r>
            <a:r>
              <a:rPr lang="en-US" sz="2400" dirty="0" err="1"/>
              <a:t>čvor</a:t>
            </a:r>
            <a:r>
              <a:rPr lang="en-US" sz="2400" dirty="0"/>
              <a:t> </a:t>
            </a:r>
            <a:r>
              <a:rPr lang="en-US" sz="2400" dirty="0" err="1"/>
              <a:t>roditelj</a:t>
            </a:r>
            <a:r>
              <a:rPr lang="en-US" sz="2400" dirty="0"/>
              <a:t> </a:t>
            </a:r>
            <a:r>
              <a:rPr lang="en-US" sz="2400" dirty="0" err="1"/>
              <a:t>sadrži</a:t>
            </a:r>
            <a:r>
              <a:rPr lang="en-US" sz="2400" dirty="0"/>
              <a:t> Minkowskijevu </a:t>
            </a:r>
            <a:r>
              <a:rPr lang="en-US" sz="2400" dirty="0" err="1"/>
              <a:t>sumu</a:t>
            </a:r>
            <a:r>
              <a:rPr lang="en-US" sz="2400" dirty="0"/>
              <a:t> </a:t>
            </a:r>
            <a:r>
              <a:rPr lang="en-US" sz="2400" dirty="0" err="1"/>
              <a:t>poligona</a:t>
            </a:r>
            <a:r>
              <a:rPr lang="en-US" sz="2400" dirty="0"/>
              <a:t> </a:t>
            </a:r>
            <a:r>
              <a:rPr lang="en-US" sz="2400" dirty="0" err="1"/>
              <a:t>svoje</a:t>
            </a:r>
            <a:r>
              <a:rPr lang="en-US" sz="2400" dirty="0"/>
              <a:t> </a:t>
            </a:r>
            <a:r>
              <a:rPr lang="en-US" sz="2400" dirty="0" err="1"/>
              <a:t>djece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 err="1"/>
              <a:t>Upit</a:t>
            </a:r>
            <a:r>
              <a:rPr lang="en-US" sz="2400" dirty="0"/>
              <a:t> </a:t>
            </a:r>
            <a:r>
              <a:rPr lang="en-US" sz="2400" dirty="0" err="1"/>
              <a:t>nad</a:t>
            </a:r>
            <a:r>
              <a:rPr lang="en-US" sz="2400" dirty="0"/>
              <a:t> </a:t>
            </a:r>
            <a:r>
              <a:rPr lang="en-US" sz="2400" dirty="0" err="1"/>
              <a:t>intervalom</a:t>
            </a:r>
            <a:r>
              <a:rPr lang="en-US" sz="2400" dirty="0"/>
              <a:t> [l, r] je u </a:t>
            </a:r>
            <a:r>
              <a:rPr lang="en-US" sz="2400" dirty="0" err="1"/>
              <a:t>složenosti</a:t>
            </a:r>
            <a:r>
              <a:rPr lang="en-US" sz="2400" dirty="0"/>
              <a:t> </a:t>
            </a:r>
            <a:r>
              <a:rPr lang="en-US" sz="2400" i="1" dirty="0"/>
              <a:t>O(log n)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2470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61B73-938C-7A02-CF18-9186248DE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-35560"/>
            <a:ext cx="10018713" cy="1752599"/>
          </a:xfrm>
        </p:spPr>
        <p:txBody>
          <a:bodyPr/>
          <a:lstStyle/>
          <a:p>
            <a:r>
              <a:rPr lang="en-US" dirty="0" err="1"/>
              <a:t>Zadatak</a:t>
            </a:r>
            <a:r>
              <a:rPr lang="en-US" dirty="0"/>
              <a:t>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D6D6C-F904-D32C-AE11-C1B02B053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47799"/>
            <a:ext cx="10018713" cy="4678681"/>
          </a:xfrm>
        </p:spPr>
        <p:txBody>
          <a:bodyPr>
            <a:normAutofit/>
          </a:bodyPr>
          <a:lstStyle/>
          <a:p>
            <a:r>
              <a:rPr lang="en-US" dirty="0"/>
              <a:t>Oblak je </a:t>
            </a:r>
            <a:r>
              <a:rPr lang="en-US" dirty="0" err="1"/>
              <a:t>iznad</a:t>
            </a:r>
            <a:r>
              <a:rPr lang="en-US" dirty="0"/>
              <a:t> </a:t>
            </a:r>
            <a:r>
              <a:rPr lang="en-US" dirty="0" err="1"/>
              <a:t>zračne</a:t>
            </a:r>
            <a:r>
              <a:rPr lang="en-US" dirty="0"/>
              <a:t> </a:t>
            </a:r>
            <a:r>
              <a:rPr lang="en-US" dirty="0" err="1"/>
              <a:t>luke</a:t>
            </a:r>
            <a:r>
              <a:rPr lang="en-US" dirty="0"/>
              <a:t> </a:t>
            </a:r>
            <a:r>
              <a:rPr lang="en-US" dirty="0" err="1"/>
              <a:t>i</a:t>
            </a:r>
            <a:r>
              <a:rPr lang="en-US" dirty="0"/>
              <a:t> </a:t>
            </a:r>
            <a:r>
              <a:rPr lang="en-US" dirty="0" err="1"/>
              <a:t>glavni</a:t>
            </a:r>
            <a:r>
              <a:rPr lang="en-US" dirty="0"/>
              <a:t> </a:t>
            </a:r>
            <a:r>
              <a:rPr lang="en-US" dirty="0" err="1"/>
              <a:t>kontrolor</a:t>
            </a:r>
            <a:r>
              <a:rPr lang="en-US" dirty="0"/>
              <a:t> </a:t>
            </a:r>
            <a:r>
              <a:rPr lang="en-US" dirty="0" err="1"/>
              <a:t>neće</a:t>
            </a:r>
            <a:r>
              <a:rPr lang="en-US" dirty="0"/>
              <a:t> </a:t>
            </a:r>
            <a:r>
              <a:rPr lang="en-US" dirty="0" err="1"/>
              <a:t>dopustiti</a:t>
            </a:r>
            <a:r>
              <a:rPr lang="en-US" dirty="0"/>
              <a:t> </a:t>
            </a:r>
            <a:r>
              <a:rPr lang="en-US" dirty="0" err="1"/>
              <a:t>zrakoplovima</a:t>
            </a:r>
            <a:r>
              <a:rPr lang="en-US" dirty="0"/>
              <a:t> da </a:t>
            </a:r>
            <a:r>
              <a:rPr lang="en-US" dirty="0" err="1"/>
              <a:t>krenu</a:t>
            </a:r>
            <a:r>
              <a:rPr lang="en-US" dirty="0"/>
              <a:t> 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dok</a:t>
            </a:r>
            <a:r>
              <a:rPr lang="en-US" dirty="0"/>
              <a:t> je </a:t>
            </a:r>
            <a:r>
              <a:rPr lang="en-US" dirty="0" err="1"/>
              <a:t>oblak</a:t>
            </a:r>
            <a:r>
              <a:rPr lang="en-US" dirty="0"/>
              <a:t> </a:t>
            </a:r>
            <a:r>
              <a:rPr lang="en-US" dirty="0" err="1"/>
              <a:t>iznad</a:t>
            </a:r>
            <a:r>
              <a:rPr lang="en-US" dirty="0"/>
              <a:t> </a:t>
            </a:r>
            <a:r>
              <a:rPr lang="en-US" dirty="0" err="1"/>
              <a:t>zrače</a:t>
            </a:r>
            <a:r>
              <a:rPr lang="en-US" dirty="0"/>
              <a:t> </a:t>
            </a:r>
            <a:r>
              <a:rPr lang="en-US" dirty="0" err="1"/>
              <a:t>luke</a:t>
            </a:r>
            <a:endParaRPr lang="en-US" dirty="0"/>
          </a:p>
          <a:p>
            <a:pPr>
              <a:buClr>
                <a:srgbClr val="1287C3"/>
              </a:buClr>
            </a:pPr>
            <a:r>
              <a:rPr lang="en-US" dirty="0" err="1"/>
              <a:t>Glavni</a:t>
            </a:r>
            <a:r>
              <a:rPr lang="en-US" dirty="0"/>
              <a:t> </a:t>
            </a:r>
            <a:r>
              <a:rPr lang="en-US" dirty="0" err="1"/>
              <a:t>kontrolor</a:t>
            </a:r>
            <a:r>
              <a:rPr lang="en-US" dirty="0"/>
              <a:t> je </a:t>
            </a:r>
            <a:r>
              <a:rPr lang="en-US" dirty="0" err="1"/>
              <a:t>javio</a:t>
            </a:r>
            <a:r>
              <a:rPr lang="en-US" dirty="0"/>
              <a:t> da </a:t>
            </a:r>
            <a:r>
              <a:rPr lang="en-US" dirty="0" err="1"/>
              <a:t>vjetar</a:t>
            </a:r>
            <a:r>
              <a:rPr lang="en-US" dirty="0"/>
              <a:t> </a:t>
            </a:r>
            <a:r>
              <a:rPr lang="en-US" dirty="0" err="1"/>
              <a:t>puše</a:t>
            </a:r>
            <a:r>
              <a:rPr lang="en-US" dirty="0"/>
              <a:t> 1m/s 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uskoro</a:t>
            </a:r>
            <a:r>
              <a:rPr lang="en-US" dirty="0"/>
              <a:t> </a:t>
            </a:r>
            <a:r>
              <a:rPr lang="en-US" dirty="0" err="1"/>
              <a:t>će</a:t>
            </a:r>
            <a:r>
              <a:rPr lang="en-US" dirty="0"/>
              <a:t> </a:t>
            </a:r>
            <a:r>
              <a:rPr lang="en-US" dirty="0" err="1"/>
              <a:t>otpuhati</a:t>
            </a:r>
            <a:r>
              <a:rPr lang="en-US" dirty="0"/>
              <a:t> </a:t>
            </a:r>
            <a:r>
              <a:rPr lang="en-US" dirty="0" err="1"/>
              <a:t>oblak</a:t>
            </a:r>
            <a:endParaRPr lang="en-US" dirty="0"/>
          </a:p>
          <a:p>
            <a:pPr>
              <a:buClr>
                <a:srgbClr val="1287C3"/>
              </a:buClr>
            </a:pPr>
            <a:r>
              <a:rPr lang="en-US" dirty="0"/>
              <a:t>Jedan </a:t>
            </a:r>
            <a:r>
              <a:rPr lang="en-US" dirty="0" err="1"/>
              <a:t>putnik</a:t>
            </a:r>
            <a:r>
              <a:rPr lang="en-US" dirty="0"/>
              <a:t> je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internetu</a:t>
            </a:r>
            <a:r>
              <a:rPr lang="en-US" dirty="0"/>
              <a:t> </a:t>
            </a:r>
            <a:r>
              <a:rPr lang="en-US" dirty="0" err="1"/>
              <a:t>našao</a:t>
            </a:r>
            <a:r>
              <a:rPr lang="en-US" dirty="0"/>
              <a:t> </a:t>
            </a:r>
            <a:r>
              <a:rPr lang="en-US" dirty="0" err="1"/>
              <a:t>satelitsku</a:t>
            </a:r>
            <a:r>
              <a:rPr lang="en-US" dirty="0"/>
              <a:t>  </a:t>
            </a:r>
            <a:r>
              <a:rPr lang="en-US" dirty="0" err="1"/>
              <a:t>kakvo</a:t>
            </a:r>
            <a:r>
              <a:rPr lang="en-US" dirty="0"/>
              <a:t> je </a:t>
            </a:r>
            <a:r>
              <a:rPr lang="en-US" dirty="0" err="1"/>
              <a:t>stanje</a:t>
            </a:r>
            <a:r>
              <a:rPr lang="en-US" dirty="0"/>
              <a:t> </a:t>
            </a:r>
            <a:r>
              <a:rPr lang="en-US" dirty="0" err="1"/>
              <a:t>bilo</a:t>
            </a:r>
            <a:r>
              <a:rPr lang="en-US" dirty="0"/>
              <a:t> </a:t>
            </a:r>
            <a:r>
              <a:rPr lang="en-US" dirty="0" err="1"/>
              <a:t>prije</a:t>
            </a:r>
            <a:r>
              <a:rPr lang="en-US" dirty="0"/>
              <a:t> </a:t>
            </a:r>
            <a:r>
              <a:rPr lang="en-US" dirty="0" err="1"/>
              <a:t>točno</a:t>
            </a:r>
            <a:r>
              <a:rPr lang="en-US" dirty="0"/>
              <a:t> </a:t>
            </a:r>
            <a:r>
              <a:rPr lang="en-US" dirty="0" err="1"/>
              <a:t>minutu</a:t>
            </a:r>
            <a:r>
              <a:rPr lang="en-US" dirty="0"/>
              <a:t> </a:t>
            </a:r>
            <a:r>
              <a:rPr lang="en-US" dirty="0" err="1"/>
              <a:t>i</a:t>
            </a:r>
            <a:r>
              <a:rPr lang="en-US" dirty="0"/>
              <a:t> 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nje</a:t>
            </a:r>
            <a:r>
              <a:rPr lang="en-US" dirty="0"/>
              <a:t> </a:t>
            </a:r>
            <a:r>
              <a:rPr lang="en-US" dirty="0" err="1"/>
              <a:t>vidi</a:t>
            </a:r>
            <a:r>
              <a:rPr lang="en-US" dirty="0"/>
              <a:t> </a:t>
            </a:r>
            <a:r>
              <a:rPr lang="en-US" dirty="0" err="1"/>
              <a:t>koordianate</a:t>
            </a:r>
            <a:r>
              <a:rPr lang="en-US" dirty="0"/>
              <a:t> </a:t>
            </a:r>
            <a:r>
              <a:rPr lang="en-US" dirty="0" err="1"/>
              <a:t>oblaka</a:t>
            </a:r>
            <a:r>
              <a:rPr lang="en-US" dirty="0"/>
              <a:t> </a:t>
            </a:r>
            <a:r>
              <a:rPr lang="en-US" dirty="0" err="1"/>
              <a:t>i</a:t>
            </a:r>
            <a:r>
              <a:rPr lang="en-US" dirty="0"/>
              <a:t> </a:t>
            </a:r>
            <a:r>
              <a:rPr lang="en-US" dirty="0" err="1"/>
              <a:t>zračne</a:t>
            </a:r>
            <a:r>
              <a:rPr lang="en-US" dirty="0"/>
              <a:t> </a:t>
            </a:r>
            <a:r>
              <a:rPr lang="en-US" dirty="0" err="1"/>
              <a:t>luke</a:t>
            </a:r>
            <a:r>
              <a:rPr lang="en-US" dirty="0"/>
              <a:t> </a:t>
            </a:r>
          </a:p>
          <a:p>
            <a:pPr>
              <a:buClr>
                <a:srgbClr val="1287C3"/>
              </a:buClr>
            </a:pPr>
            <a:r>
              <a:rPr lang="en-US" dirty="0"/>
              <a:t>Putnik </a:t>
            </a:r>
            <a:r>
              <a:rPr lang="en-US" dirty="0" err="1"/>
              <a:t>želi</a:t>
            </a:r>
            <a:r>
              <a:rPr lang="en-US" dirty="0"/>
              <a:t> </a:t>
            </a:r>
            <a:r>
              <a:rPr lang="en-US" dirty="0" err="1"/>
              <a:t>znati</a:t>
            </a:r>
            <a:r>
              <a:rPr lang="en-US" dirty="0"/>
              <a:t> </a:t>
            </a:r>
            <a:r>
              <a:rPr lang="en-US" dirty="0" err="1"/>
              <a:t>koliko</a:t>
            </a:r>
            <a:r>
              <a:rPr lang="en-US" dirty="0"/>
              <a:t> bi </a:t>
            </a:r>
            <a:r>
              <a:rPr lang="en-US" dirty="0" err="1"/>
              <a:t>minimalno</a:t>
            </a:r>
            <a:r>
              <a:rPr lang="en-US" dirty="0"/>
              <a:t> </a:t>
            </a:r>
            <a:r>
              <a:rPr lang="en-US" dirty="0" err="1"/>
              <a:t>vremena</a:t>
            </a:r>
            <a:r>
              <a:rPr lang="en-US" dirty="0"/>
              <a:t> </a:t>
            </a:r>
            <a:r>
              <a:rPr lang="en-US" dirty="0" err="1"/>
              <a:t>trebao</a:t>
            </a:r>
            <a:r>
              <a:rPr lang="en-US" dirty="0"/>
              <a:t> </a:t>
            </a:r>
            <a:r>
              <a:rPr lang="en-US" dirty="0" err="1"/>
              <a:t>čekati</a:t>
            </a:r>
            <a:r>
              <a:rPr lang="en-US" dirty="0"/>
              <a:t> </a:t>
            </a:r>
            <a:r>
              <a:rPr lang="en-US" dirty="0" err="1"/>
              <a:t>dok</a:t>
            </a:r>
            <a:r>
              <a:rPr lang="en-US" dirty="0"/>
              <a:t> </a:t>
            </a:r>
            <a:r>
              <a:rPr lang="en-US" dirty="0" err="1"/>
              <a:t>kontrolor</a:t>
            </a:r>
            <a:r>
              <a:rPr lang="en-US" dirty="0"/>
              <a:t> ne </a:t>
            </a:r>
            <a:r>
              <a:rPr lang="en-US" dirty="0" err="1"/>
              <a:t>dopusti</a:t>
            </a:r>
            <a:r>
              <a:rPr lang="en-US" dirty="0"/>
              <a:t> </a:t>
            </a:r>
            <a:r>
              <a:rPr lang="en-US" dirty="0" err="1"/>
              <a:t>zrakoplovima</a:t>
            </a:r>
            <a:r>
              <a:rPr lang="en-US" dirty="0"/>
              <a:t> da </a:t>
            </a:r>
            <a:r>
              <a:rPr lang="en-US" dirty="0" err="1"/>
              <a:t>krenu</a:t>
            </a:r>
            <a:r>
              <a:rPr lang="en-US" dirty="0"/>
              <a:t> (</a:t>
            </a:r>
            <a:r>
              <a:rPr lang="en-US" dirty="0" err="1"/>
              <a:t>koliko</a:t>
            </a:r>
            <a:r>
              <a:rPr lang="en-US" dirty="0"/>
              <a:t> </a:t>
            </a:r>
            <a:r>
              <a:rPr lang="en-US" dirty="0" err="1"/>
              <a:t>će</a:t>
            </a:r>
            <a:r>
              <a:rPr lang="en-US" dirty="0"/>
              <a:t> </a:t>
            </a:r>
            <a:r>
              <a:rPr lang="en-US" dirty="0" err="1"/>
              <a:t>trebati</a:t>
            </a:r>
            <a:r>
              <a:rPr lang="en-US" dirty="0"/>
              <a:t> </a:t>
            </a:r>
            <a:r>
              <a:rPr lang="en-US" dirty="0" err="1"/>
              <a:t>čekati</a:t>
            </a:r>
            <a:r>
              <a:rPr lang="en-US" dirty="0"/>
              <a:t> </a:t>
            </a:r>
            <a:r>
              <a:rPr lang="en-US" dirty="0" err="1"/>
              <a:t>ako</a:t>
            </a:r>
            <a:r>
              <a:rPr lang="en-US" dirty="0"/>
              <a:t> </a:t>
            </a:r>
            <a:r>
              <a:rPr lang="en-US" dirty="0" err="1"/>
              <a:t>vjetar</a:t>
            </a:r>
            <a:r>
              <a:rPr lang="en-US" dirty="0"/>
              <a:t> </a:t>
            </a:r>
            <a:r>
              <a:rPr lang="en-US" dirty="0" err="1"/>
              <a:t>puše</a:t>
            </a:r>
            <a:r>
              <a:rPr lang="en-US" dirty="0"/>
              <a:t> u </a:t>
            </a:r>
            <a:r>
              <a:rPr lang="en-US" dirty="0" err="1"/>
              <a:t>optimalnom</a:t>
            </a:r>
            <a:r>
              <a:rPr lang="en-US" dirty="0"/>
              <a:t> </a:t>
            </a:r>
            <a:r>
              <a:rPr lang="en-US" dirty="0" err="1"/>
              <a:t>smjeru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137978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12502-9101-3B7A-9400-41404DBCA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37160"/>
            <a:ext cx="10018713" cy="1752599"/>
          </a:xfrm>
        </p:spPr>
        <p:txBody>
          <a:bodyPr/>
          <a:lstStyle/>
          <a:p>
            <a:r>
              <a:rPr lang="en-US" dirty="0" err="1"/>
              <a:t>Zadatak</a:t>
            </a:r>
            <a:r>
              <a:rPr lang="en-US" dirty="0"/>
              <a:t> 4 - </a:t>
            </a:r>
            <a:r>
              <a:rPr lang="en-US" dirty="0" err="1"/>
              <a:t>rješenje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E59A5-572A-2BDF-83ED-3E4C11809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390" y="1711959"/>
            <a:ext cx="10303193" cy="4323081"/>
          </a:xfrm>
        </p:spPr>
        <p:txBody>
          <a:bodyPr>
            <a:normAutofit/>
          </a:bodyPr>
          <a:lstStyle/>
          <a:p>
            <a:r>
              <a:rPr lang="en-US" dirty="0" err="1"/>
              <a:t>Prvo</a:t>
            </a:r>
            <a:r>
              <a:rPr lang="en-US" dirty="0"/>
              <a:t> </a:t>
            </a:r>
            <a:r>
              <a:rPr lang="en-US" dirty="0" err="1"/>
              <a:t>provjerimo</a:t>
            </a:r>
            <a:r>
              <a:rPr lang="en-US" dirty="0"/>
              <a:t> je li </a:t>
            </a:r>
            <a:r>
              <a:rPr lang="en-US" dirty="0" err="1"/>
              <a:t>oblak</a:t>
            </a:r>
            <a:r>
              <a:rPr lang="en-US" dirty="0"/>
              <a:t> </a:t>
            </a:r>
            <a:r>
              <a:rPr lang="en-US" dirty="0" err="1"/>
              <a:t>uopće</a:t>
            </a:r>
            <a:r>
              <a:rPr lang="en-US" dirty="0"/>
              <a:t> </a:t>
            </a:r>
            <a:r>
              <a:rPr lang="en-US" dirty="0" err="1"/>
              <a:t>iznad</a:t>
            </a:r>
            <a:r>
              <a:rPr lang="en-US" dirty="0"/>
              <a:t> </a:t>
            </a:r>
            <a:r>
              <a:rPr lang="en-US" dirty="0" err="1"/>
              <a:t>zračne</a:t>
            </a:r>
            <a:r>
              <a:rPr lang="en-US" dirty="0"/>
              <a:t> </a:t>
            </a:r>
            <a:r>
              <a:rPr lang="en-US" dirty="0" err="1"/>
              <a:t>luke</a:t>
            </a:r>
            <a:r>
              <a:rPr lang="en-US" dirty="0"/>
              <a:t> (</a:t>
            </a:r>
            <a:r>
              <a:rPr lang="en-US" dirty="0" err="1"/>
              <a:t>ako</a:t>
            </a:r>
            <a:r>
              <a:rPr lang="en-US" dirty="0"/>
              <a:t> </a:t>
            </a:r>
            <a:r>
              <a:rPr lang="en-US" dirty="0" err="1"/>
              <a:t>nije</a:t>
            </a:r>
            <a:r>
              <a:rPr lang="en-US" dirty="0"/>
              <a:t> </a:t>
            </a:r>
            <a:r>
              <a:rPr lang="en-US" dirty="0" err="1"/>
              <a:t>vrijeme</a:t>
            </a:r>
            <a:r>
              <a:rPr lang="en-US" dirty="0"/>
              <a:t> je 0)</a:t>
            </a:r>
          </a:p>
          <a:p>
            <a:pPr>
              <a:buClr>
                <a:srgbClr val="1287C3"/>
              </a:buClr>
            </a:pPr>
            <a:r>
              <a:rPr lang="en-US" dirty="0"/>
              <a:t>U </a:t>
            </a:r>
            <a:r>
              <a:rPr lang="en-US" dirty="0" err="1"/>
              <a:t>suprotnom</a:t>
            </a:r>
            <a:r>
              <a:rPr lang="en-US" dirty="0"/>
              <a:t> </a:t>
            </a:r>
            <a:r>
              <a:rPr lang="en-US" dirty="0" err="1"/>
              <a:t>izračunamo</a:t>
            </a:r>
            <a:r>
              <a:rPr lang="en-US" dirty="0"/>
              <a:t> Minowski </a:t>
            </a:r>
            <a:r>
              <a:rPr lang="en-US" dirty="0" err="1"/>
              <a:t>sumu</a:t>
            </a:r>
            <a:r>
              <a:rPr lang="en-US" dirty="0"/>
              <a:t> </a:t>
            </a:r>
            <a:r>
              <a:rPr lang="en-US" dirty="0" err="1"/>
              <a:t>poligona</a:t>
            </a:r>
            <a:r>
              <a:rPr lang="en-US" dirty="0"/>
              <a:t> za </a:t>
            </a:r>
            <a:r>
              <a:rPr lang="en-US" dirty="0" err="1"/>
              <a:t>oblak</a:t>
            </a:r>
            <a:r>
              <a:rPr lang="en-US" dirty="0"/>
              <a:t> </a:t>
            </a:r>
            <a:r>
              <a:rPr lang="en-US" dirty="0" err="1"/>
              <a:t>i</a:t>
            </a:r>
            <a:r>
              <a:rPr lang="en-US" dirty="0"/>
              <a:t> </a:t>
            </a:r>
            <a:r>
              <a:rPr lang="en-US" dirty="0" err="1"/>
              <a:t>negativnog</a:t>
            </a:r>
            <a:r>
              <a:rPr lang="en-US" dirty="0"/>
              <a:t> </a:t>
            </a:r>
            <a:r>
              <a:rPr lang="en-US" dirty="0" err="1"/>
              <a:t>poligona</a:t>
            </a:r>
            <a:r>
              <a:rPr lang="en-US" dirty="0"/>
              <a:t> za </a:t>
            </a:r>
            <a:r>
              <a:rPr lang="en-US" dirty="0" err="1"/>
              <a:t>zračnu</a:t>
            </a:r>
            <a:r>
              <a:rPr lang="en-US" dirty="0"/>
              <a:t> </a:t>
            </a:r>
            <a:r>
              <a:rPr lang="en-US" dirty="0" err="1"/>
              <a:t>luku</a:t>
            </a:r>
            <a:r>
              <a:rPr lang="en-US" dirty="0"/>
              <a:t> </a:t>
            </a:r>
          </a:p>
          <a:p>
            <a:pPr>
              <a:buClr>
                <a:srgbClr val="1287C3"/>
              </a:buClr>
            </a:pPr>
            <a:r>
              <a:rPr lang="en-US" dirty="0"/>
              <a:t>I </a:t>
            </a:r>
            <a:r>
              <a:rPr lang="en-US" dirty="0" err="1"/>
              <a:t>potom</a:t>
            </a:r>
            <a:r>
              <a:rPr lang="en-US" dirty="0"/>
              <a:t> </a:t>
            </a:r>
            <a:r>
              <a:rPr lang="en-US" dirty="0" err="1"/>
              <a:t>izračunamo</a:t>
            </a:r>
            <a:r>
              <a:rPr lang="en-US" dirty="0"/>
              <a:t> </a:t>
            </a:r>
            <a:r>
              <a:rPr lang="en-US" dirty="0" err="1"/>
              <a:t>minimalnu</a:t>
            </a:r>
            <a:r>
              <a:rPr lang="en-US" dirty="0"/>
              <a:t> </a:t>
            </a:r>
            <a:r>
              <a:rPr lang="en-US" dirty="0" err="1"/>
              <a:t>udaljenost</a:t>
            </a:r>
            <a:r>
              <a:rPr lang="en-US" dirty="0"/>
              <a:t> </a:t>
            </a:r>
            <a:r>
              <a:rPr lang="en-US" dirty="0" err="1"/>
              <a:t>tog</a:t>
            </a:r>
            <a:r>
              <a:rPr lang="en-US" dirty="0"/>
              <a:t> </a:t>
            </a:r>
            <a:r>
              <a:rPr lang="en-US" dirty="0" err="1"/>
              <a:t>poligona</a:t>
            </a:r>
            <a:r>
              <a:rPr lang="en-US" dirty="0"/>
              <a:t> </a:t>
            </a:r>
            <a:r>
              <a:rPr lang="en-US" dirty="0" err="1"/>
              <a:t>i</a:t>
            </a:r>
            <a:r>
              <a:rPr lang="en-US" dirty="0"/>
              <a:t> </a:t>
            </a:r>
            <a:r>
              <a:rPr lang="en-US" dirty="0" err="1"/>
              <a:t>ishodista</a:t>
            </a:r>
            <a:r>
              <a:rPr lang="en-US" dirty="0"/>
              <a:t>  (</a:t>
            </a:r>
            <a:r>
              <a:rPr lang="en-US" dirty="0" err="1"/>
              <a:t>koje</a:t>
            </a:r>
            <a:r>
              <a:rPr lang="en-US" dirty="0"/>
              <a:t> je </a:t>
            </a:r>
            <a:r>
              <a:rPr lang="en-US" dirty="0" err="1"/>
              <a:t>unutar</a:t>
            </a:r>
            <a:r>
              <a:rPr lang="en-US" dirty="0"/>
              <a:t> </a:t>
            </a:r>
            <a:r>
              <a:rPr lang="en-US" dirty="0" err="1"/>
              <a:t>Minowski</a:t>
            </a:r>
            <a:r>
              <a:rPr lang="en-US" dirty="0"/>
              <a:t> </a:t>
            </a:r>
            <a:r>
              <a:rPr lang="en-US" dirty="0" err="1"/>
              <a:t>poligona</a:t>
            </a:r>
            <a:r>
              <a:rPr lang="en-US" dirty="0"/>
              <a:t>) , to je </a:t>
            </a:r>
            <a:r>
              <a:rPr lang="en-US" dirty="0" err="1"/>
              <a:t>i</a:t>
            </a:r>
            <a:r>
              <a:rPr lang="en-US" dirty="0"/>
              <a:t> </a:t>
            </a:r>
            <a:r>
              <a:rPr lang="en-US" dirty="0" err="1"/>
              <a:t>potrebno</a:t>
            </a:r>
            <a:r>
              <a:rPr lang="en-US" dirty="0"/>
              <a:t> </a:t>
            </a:r>
            <a:r>
              <a:rPr lang="en-US" dirty="0" err="1"/>
              <a:t>vrijeme</a:t>
            </a:r>
            <a:r>
              <a:rPr lang="en-US" dirty="0"/>
              <a:t> </a:t>
            </a:r>
            <a:r>
              <a:rPr lang="en-US" dirty="0" err="1"/>
              <a:t>jer</a:t>
            </a:r>
            <a:r>
              <a:rPr lang="en-US" dirty="0"/>
              <a:t> </a:t>
            </a:r>
            <a:r>
              <a:rPr lang="en-US" dirty="0" err="1"/>
              <a:t>vjetar</a:t>
            </a:r>
            <a:r>
              <a:rPr lang="en-US" dirty="0"/>
              <a:t> </a:t>
            </a:r>
            <a:r>
              <a:rPr lang="en-US" dirty="0" err="1"/>
              <a:t>puše</a:t>
            </a:r>
            <a:r>
              <a:rPr lang="en-US" dirty="0"/>
              <a:t> 1m/s</a:t>
            </a:r>
          </a:p>
          <a:p>
            <a:pPr>
              <a:buClr>
                <a:srgbClr val="1287C3"/>
              </a:buClr>
            </a:pPr>
            <a:r>
              <a:rPr lang="en-US" dirty="0"/>
              <a:t>Na </a:t>
            </a:r>
            <a:r>
              <a:rPr lang="en-US" dirty="0" err="1"/>
              <a:t>kraju</a:t>
            </a:r>
            <a:r>
              <a:rPr lang="en-US" dirty="0"/>
              <a:t> </a:t>
            </a:r>
            <a:r>
              <a:rPr lang="en-US" dirty="0" err="1"/>
              <a:t>rezultat</a:t>
            </a:r>
            <a:r>
              <a:rPr lang="en-US" dirty="0"/>
              <a:t> </a:t>
            </a:r>
            <a:r>
              <a:rPr lang="en-US" dirty="0" err="1"/>
              <a:t>umanjimo</a:t>
            </a:r>
            <a:r>
              <a:rPr lang="en-US" dirty="0"/>
              <a:t> za 6</a:t>
            </a:r>
            <a:r>
              <a:rPr lang="en-US" sz="2200" dirty="0"/>
              <a:t>0 </a:t>
            </a:r>
            <a:r>
              <a:rPr lang="en-US" sz="2200" dirty="0" err="1"/>
              <a:t>sekundi</a:t>
            </a:r>
            <a:r>
              <a:rPr lang="en-US" sz="2200" dirty="0"/>
              <a:t> </a:t>
            </a:r>
            <a:r>
              <a:rPr lang="en-US" sz="2200" dirty="0" err="1"/>
              <a:t>jer</a:t>
            </a:r>
            <a:r>
              <a:rPr lang="en-US" sz="2200" dirty="0"/>
              <a:t> je </a:t>
            </a:r>
            <a:r>
              <a:rPr lang="en-US" sz="2200" dirty="0" err="1"/>
              <a:t>putnik</a:t>
            </a:r>
            <a:r>
              <a:rPr lang="en-US" sz="2200" dirty="0"/>
              <a:t> </a:t>
            </a:r>
            <a:r>
              <a:rPr lang="en-US" sz="2200" dirty="0" err="1"/>
              <a:t>našao</a:t>
            </a:r>
            <a:r>
              <a:rPr lang="en-US" sz="2200" dirty="0"/>
              <a:t> </a:t>
            </a:r>
            <a:r>
              <a:rPr lang="en-US" sz="2200" dirty="0" err="1"/>
              <a:t>satelitsku</a:t>
            </a:r>
            <a:r>
              <a:rPr lang="en-US" sz="2200" dirty="0"/>
              <a:t> </a:t>
            </a:r>
            <a:r>
              <a:rPr lang="en-US" sz="2200" dirty="0" err="1"/>
              <a:t>snimku</a:t>
            </a:r>
            <a:r>
              <a:rPr lang="en-US" sz="2200" dirty="0"/>
              <a:t> </a:t>
            </a:r>
            <a:r>
              <a:rPr lang="en-US" sz="2200" dirty="0" err="1"/>
              <a:t>koja</a:t>
            </a:r>
            <a:r>
              <a:rPr lang="en-US" sz="2200" dirty="0"/>
              <a:t> je </a:t>
            </a:r>
            <a:r>
              <a:rPr lang="en-US" sz="2200" dirty="0" err="1"/>
              <a:t>bila</a:t>
            </a:r>
            <a:r>
              <a:rPr lang="en-US" sz="2200" dirty="0"/>
              <a:t> </a:t>
            </a:r>
            <a:r>
              <a:rPr lang="en-US" sz="2200" dirty="0" err="1"/>
              <a:t>stara</a:t>
            </a:r>
            <a:r>
              <a:rPr lang="en-US" sz="2200" dirty="0"/>
              <a:t> 1 </a:t>
            </a:r>
            <a:r>
              <a:rPr lang="en-US" sz="2200" dirty="0" err="1"/>
              <a:t>minutu</a:t>
            </a:r>
          </a:p>
          <a:p>
            <a:pPr>
              <a:buClr>
                <a:srgbClr val="1287C3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9466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01F9A-98DA-FE27-16F6-FD2D83679C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Kraj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F0A258-2473-85F8-02FE-4867B993BA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3401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Parallax</vt:lpstr>
      <vt:lpstr>Minkowskijeva suma konveksnih poligona</vt:lpstr>
      <vt:lpstr>Definicija Minkowskijeve sume</vt:lpstr>
      <vt:lpstr>Primjena </vt:lpstr>
      <vt:lpstr>Algoritam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Udaljenost između dva poligona</vt:lpstr>
      <vt:lpstr>Udaljenost između dva poligona</vt:lpstr>
      <vt:lpstr>Objašnjenje koda</vt:lpstr>
      <vt:lpstr>Objašnjenje koda</vt:lpstr>
      <vt:lpstr>Objašnjenje koda</vt:lpstr>
      <vt:lpstr>Provjera složenosti</vt:lpstr>
      <vt:lpstr>Provjera složenosti</vt:lpstr>
      <vt:lpstr>Vrijeme izračuna udaljenosti</vt:lpstr>
      <vt:lpstr>Zadatak 1</vt:lpstr>
      <vt:lpstr>Zadatak 1 - rješenje</vt:lpstr>
      <vt:lpstr>Zadatak 2</vt:lpstr>
      <vt:lpstr>Zadatak 3</vt:lpstr>
      <vt:lpstr>Zadatak 3 - rješenje</vt:lpstr>
      <vt:lpstr>Zadatak 4</vt:lpstr>
      <vt:lpstr>Zadatak 4 - rješenje</vt:lpstr>
      <vt:lpstr>Kraj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1395</cp:revision>
  <dcterms:created xsi:type="dcterms:W3CDTF">2026-05-15T10:51:03Z</dcterms:created>
  <dcterms:modified xsi:type="dcterms:W3CDTF">2026-05-21T10:55:55Z</dcterms:modified>
</cp:coreProperties>
</file>