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73" r:id="rId4"/>
    <p:sldId id="258" r:id="rId5"/>
    <p:sldId id="265" r:id="rId6"/>
    <p:sldId id="259" r:id="rId7"/>
    <p:sldId id="261" r:id="rId8"/>
    <p:sldId id="262" r:id="rId9"/>
    <p:sldId id="263" r:id="rId10"/>
    <p:sldId id="264" r:id="rId11"/>
    <p:sldId id="266" r:id="rId12"/>
    <p:sldId id="267" r:id="rId13"/>
    <p:sldId id="274" r:id="rId14"/>
    <p:sldId id="275" r:id="rId15"/>
    <p:sldId id="269" r:id="rId16"/>
    <p:sldId id="277" r:id="rId17"/>
    <p:sldId id="270" r:id="rId18"/>
    <p:sldId id="271" r:id="rId19"/>
    <p:sldId id="272" r:id="rId20"/>
    <p:sldId id="278" r:id="rId21"/>
  </p:sldIdLst>
  <p:sldSz cx="12192000" cy="6858000"/>
  <p:notesSz cx="6858000" cy="9144000"/>
  <p:defaultTextStyle>
    <a:defPPr>
      <a:defRPr lang="sr-Latn-R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A74C51-9993-49F2-8543-F657D5270B92}" v="139" dt="2026-05-20T09:37:51.252"/>
    <p1510:client id="{3E5F8685-8737-43F2-9E75-62B55E313D96}" v="2140" dt="2026-05-19T16:47:32.966"/>
    <p1510:client id="{BA5BA7E6-A7AF-4335-A7FF-8A71EDB3DFCA}" v="1121" dt="2026-05-20T16:01:36.088"/>
    <p1510:client id="{BC3ECB0D-E642-4C18-9176-33C3D2FCDE32}" v="42" dt="2026-05-19T10:01:22.69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8507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7826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3755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0170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0551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935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1290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36890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8017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7670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83721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10935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1702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87616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44692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41898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9853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5/20/2026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2059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ctrTitle"/>
          </p:nvPr>
        </p:nvSpPr>
        <p:spPr>
          <a:xfrm>
            <a:off x="3880430" y="583345"/>
            <a:ext cx="7160357" cy="4164820"/>
          </a:xfrm>
        </p:spPr>
        <p:txBody>
          <a:bodyPr anchor="t">
            <a:normAutofit/>
          </a:bodyPr>
          <a:lstStyle/>
          <a:p>
            <a:pPr algn="r"/>
            <a:r>
              <a:rPr lang="hr-HR" sz="7400"/>
              <a:t>Minkowskijeva suma konveksnih poligona</a:t>
            </a:r>
          </a:p>
        </p:txBody>
      </p:sp>
      <p:sp>
        <p:nvSpPr>
          <p:cNvPr id="3" name="Podnaslov 2"/>
          <p:cNvSpPr>
            <a:spLocks noGrp="1"/>
          </p:cNvSpPr>
          <p:nvPr>
            <p:ph type="subTitle" idx="1"/>
          </p:nvPr>
        </p:nvSpPr>
        <p:spPr>
          <a:xfrm>
            <a:off x="8170612" y="4322914"/>
            <a:ext cx="3067247" cy="577894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hr-HR" sz="2400"/>
              <a:t>Vid Joha i Petar Rupčić</a:t>
            </a:r>
          </a:p>
        </p:txBody>
      </p:sp>
    </p:spTree>
    <p:extLst>
      <p:ext uri="{BB962C8B-B14F-4D97-AF65-F5344CB8AC3E}">
        <p14:creationId xmlns:p14="http://schemas.microsoft.com/office/powerpoint/2010/main" val="4147140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5887C386-1EA4-79C6-9F0C-D001D709A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930" y="1153572"/>
            <a:ext cx="3200400" cy="4461163"/>
          </a:xfrm>
        </p:spPr>
        <p:txBody>
          <a:bodyPr>
            <a:normAutofit/>
          </a:bodyPr>
          <a:lstStyle/>
          <a:p>
            <a:r>
              <a:rPr lang="hr-HR" sz="3700">
                <a:solidFill>
                  <a:schemeClr val="tx2"/>
                </a:solidFill>
              </a:rPr>
              <a:t>Definicija Minkowskijeve sume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39A6A42C-BB27-8685-F32B-BA0871DD79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r-HR"/>
              <a:t>P i Q skupovi točaka u ravnini </a:t>
            </a:r>
          </a:p>
          <a:p>
            <a:r>
              <a:rPr lang="hr-HR"/>
              <a:t>P + Q := {a + b; a </a:t>
            </a:r>
            <a:r>
              <a:rPr lang="hr-HR">
                <a:ea typeface="+mn-lt"/>
                <a:cs typeface="+mn-lt"/>
              </a:rPr>
              <a:t>∈ P, b ∈ Q}</a:t>
            </a:r>
          </a:p>
          <a:p>
            <a:r>
              <a:rPr lang="hr-HR"/>
              <a:t>|P| := Broj vrhova poligona P</a:t>
            </a:r>
            <a:endParaRPr lang="hr-HR" dirty="0"/>
          </a:p>
          <a:p>
            <a:endParaRPr lang="hr-HR" dirty="0"/>
          </a:p>
          <a:p>
            <a:endParaRPr lang="hr-HR" dirty="0"/>
          </a:p>
          <a:p>
            <a:r>
              <a:rPr lang="hr-HR"/>
              <a:t>U ovom projektu pretpostavljamo da su P i Q konveksni poligoni</a:t>
            </a:r>
          </a:p>
          <a:p>
            <a:r>
              <a:rPr lang="hr-HR"/>
              <a:t>Minkowski suma P + Q je konveksni poligon sa najviše |P| + |Q| vrhova </a:t>
            </a:r>
          </a:p>
        </p:txBody>
      </p:sp>
    </p:spTree>
    <p:extLst>
      <p:ext uri="{BB962C8B-B14F-4D97-AF65-F5344CB8AC3E}">
        <p14:creationId xmlns:p14="http://schemas.microsoft.com/office/powerpoint/2010/main" val="1161853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07B2D-CEB8-4CB8-36E6-C170ACA72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9600"/>
            <a:ext cx="3739341" cy="1330839"/>
          </a:xfrm>
        </p:spPr>
        <p:txBody>
          <a:bodyPr>
            <a:normAutofit/>
          </a:bodyPr>
          <a:lstStyle/>
          <a:p>
            <a:r>
              <a:rPr lang="en-US" dirty="0" err="1"/>
              <a:t>Primjena</a:t>
            </a:r>
            <a:r>
              <a:rPr lang="en-US" dirty="0"/>
              <a:t>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C944A9-99A3-3806-A1AC-C44DF7227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2092" y="2162787"/>
            <a:ext cx="3427001" cy="3908586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endParaRPr lang="en-US" sz="2000"/>
          </a:p>
          <a:p>
            <a:r>
              <a:rPr lang="en-US" sz="2000"/>
              <a:t>Detekcija kolizije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/>
              <a:t>Physics engine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/>
              <a:t>Autonomna vožnja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/>
              <a:t>Robotika</a:t>
            </a:r>
          </a:p>
          <a:p>
            <a:endParaRPr lang="en-US" sz="2000"/>
          </a:p>
          <a:p>
            <a:r>
              <a:rPr lang="en-US" sz="2000"/>
              <a:t>CNC strojevi</a:t>
            </a:r>
          </a:p>
          <a:p>
            <a:endParaRPr lang="en-US" sz="2000"/>
          </a:p>
          <a:p>
            <a:endParaRPr lang="en-US" sz="2000"/>
          </a:p>
        </p:txBody>
      </p:sp>
      <p:pic>
        <p:nvPicPr>
          <p:cNvPr id="5" name="Picture 4" descr="A person standing next to a machine&#10;&#10;AI-generated content may be incorrect.">
            <a:extLst>
              <a:ext uri="{FF2B5EF4-FFF2-40B4-BE49-F238E27FC236}">
                <a16:creationId xmlns:a16="http://schemas.microsoft.com/office/drawing/2014/main" id="{AA46B5AA-3D64-5B0B-F085-492B1BF6D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5457" y="1555859"/>
            <a:ext cx="6155141" cy="3770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1184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40B10773-1CE4-DDA2-9C1D-D024E8A74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Algoritam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8CA1BDE3-87FA-FA26-48A9-5D27C5D37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4748" y="2270341"/>
            <a:ext cx="10018713" cy="3124201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hr-HR"/>
              <a:t>Vrhove poligona P označimo s P</a:t>
            </a:r>
            <a:r>
              <a:rPr lang="hr-HR" baseline="-25000"/>
              <a:t>i </a:t>
            </a:r>
            <a:r>
              <a:rPr lang="hr-HR"/>
              <a:t>i ciklički ih enumeriramo </a:t>
            </a:r>
            <a:endParaRPr lang="en-US"/>
          </a:p>
          <a:p>
            <a:pPr marL="0" indent="0">
              <a:buNone/>
            </a:pPr>
            <a:r>
              <a:rPr lang="hr-HR"/>
              <a:t>    tako da P</a:t>
            </a:r>
            <a:r>
              <a:rPr lang="hr-HR" baseline="-25000" dirty="0"/>
              <a:t>0 </a:t>
            </a:r>
            <a:r>
              <a:rPr lang="hr-HR" dirty="0"/>
              <a:t>=P</a:t>
            </a:r>
            <a:r>
              <a:rPr lang="hr-HR" baseline="-25000" dirty="0"/>
              <a:t>|P|</a:t>
            </a:r>
            <a:endParaRPr lang="en-US"/>
          </a:p>
          <a:p>
            <a:r>
              <a:rPr lang="hr-HR"/>
              <a:t>Vrhove enumeriramo u smjeru suprotno od kazaljke na satu i tako da vrhovi P</a:t>
            </a:r>
            <a:r>
              <a:rPr lang="hr-HR" baseline="-25000"/>
              <a:t>0 </a:t>
            </a:r>
            <a:r>
              <a:rPr lang="hr-HR"/>
              <a:t>i Q</a:t>
            </a:r>
            <a:r>
              <a:rPr lang="hr-HR" baseline="-25000"/>
              <a:t>0 </a:t>
            </a:r>
            <a:r>
              <a:rPr lang="hr-HR"/>
              <a:t>imaju najmanju y koordinatu</a:t>
            </a:r>
          </a:p>
          <a:p>
            <a:r>
              <a:rPr lang="hr-HR"/>
              <a:t>Uz dva pokazivača </a:t>
            </a:r>
            <a:r>
              <a:rPr lang="hr-HR" i="1"/>
              <a:t>i, j</a:t>
            </a:r>
            <a:r>
              <a:rPr lang="hr-HR"/>
              <a:t> ponavljamo sljedeće korake dok god je</a:t>
            </a:r>
            <a:endParaRPr lang="hr-HR" dirty="0"/>
          </a:p>
          <a:p>
            <a:pPr marL="0" indent="0">
              <a:buNone/>
            </a:pPr>
            <a:r>
              <a:rPr lang="hr-HR" dirty="0"/>
              <a:t>    </a:t>
            </a:r>
            <a:r>
              <a:rPr lang="hr-HR" i="1" dirty="0"/>
              <a:t>i &lt; |P|</a:t>
            </a:r>
            <a:r>
              <a:rPr lang="hr-HR"/>
              <a:t> te </a:t>
            </a:r>
            <a:r>
              <a:rPr lang="hr-HR" i="1"/>
              <a:t>j &lt; |Q|</a:t>
            </a:r>
          </a:p>
          <a:p>
            <a:pPr marL="1371600" lvl="2" indent="-457200">
              <a:buAutoNum type="arabicPeriod"/>
            </a:pPr>
            <a:r>
              <a:rPr lang="hr-HR"/>
              <a:t>Poligonu P + Q pridruži P</a:t>
            </a:r>
            <a:r>
              <a:rPr lang="hr-HR" baseline="-25000"/>
              <a:t>i</a:t>
            </a:r>
            <a:r>
              <a:rPr lang="hr-HR"/>
              <a:t> + Q</a:t>
            </a:r>
            <a:r>
              <a:rPr lang="hr-HR" baseline="-25000"/>
              <a:t>j</a:t>
            </a:r>
            <a:endParaRPr lang="hr-HR" sz="1400" baseline="-25000">
              <a:highlight>
                <a:srgbClr val="FFFFFF"/>
              </a:highlight>
              <a:latin typeface="Roboto"/>
              <a:ea typeface="Roboto"/>
              <a:cs typeface="Roboto"/>
            </a:endParaRPr>
          </a:p>
          <a:p>
            <a:pPr marL="1371600" lvl="2" indent="-457200">
              <a:buAutoNum type="arabicPeriod"/>
            </a:pPr>
            <a:r>
              <a:rPr lang="hr-HR"/>
              <a:t>Usporedi (polarne) kuteve vektora </a:t>
            </a:r>
            <a:r>
              <a:rPr lang="hr-HR" i="1"/>
              <a:t>P</a:t>
            </a:r>
            <a:r>
              <a:rPr lang="hr-HR" i="1" baseline="-25000"/>
              <a:t>i</a:t>
            </a:r>
            <a:r>
              <a:rPr lang="hr-HR" i="1"/>
              <a:t>P</a:t>
            </a:r>
            <a:r>
              <a:rPr lang="hr-HR" i="1" baseline="-25000"/>
              <a:t>i+1</a:t>
            </a:r>
            <a:r>
              <a:rPr lang="hr-HR" i="1" dirty="0"/>
              <a:t> </a:t>
            </a:r>
            <a:r>
              <a:rPr lang="hr-HR"/>
              <a:t>i</a:t>
            </a:r>
            <a:r>
              <a:rPr lang="hr-HR" i="1"/>
              <a:t> Q</a:t>
            </a:r>
            <a:r>
              <a:rPr lang="hr-HR" i="1" baseline="-25000"/>
              <a:t>j</a:t>
            </a:r>
            <a:r>
              <a:rPr lang="hr-HR" i="1"/>
              <a:t>Q</a:t>
            </a:r>
            <a:r>
              <a:rPr lang="hr-HR" i="1" baseline="-25000"/>
              <a:t>j+1</a:t>
            </a:r>
            <a:endParaRPr lang="hr-HR" i="1" baseline="-25000">
              <a:ea typeface="+mn-lt"/>
              <a:cs typeface="+mn-lt"/>
            </a:endParaRPr>
          </a:p>
          <a:p>
            <a:pPr marL="1371600" lvl="2" indent="-457200">
              <a:buAutoNum type="arabicPeriod"/>
            </a:pPr>
            <a:r>
              <a:rPr lang="hr-HR">
                <a:ea typeface="+mn-lt"/>
                <a:cs typeface="+mn-lt"/>
              </a:rPr>
              <a:t>Povećaj pointer koji odgovara vektoru manjeg kuta (ili oba ako su kutevi jednaki)</a:t>
            </a:r>
            <a:endParaRPr lang="hr-HR" dirty="0">
              <a:ea typeface="+mn-lt"/>
              <a:cs typeface="+mn-lt"/>
            </a:endParaRPr>
          </a:p>
          <a:p>
            <a:pPr marL="1371600" lvl="2" indent="-457200">
              <a:buAutoNum type="arabicPeriod"/>
            </a:pPr>
            <a:endParaRPr lang="hr-HR" dirty="0"/>
          </a:p>
          <a:p>
            <a:pPr marL="0" indent="0">
              <a:buNone/>
            </a:pPr>
            <a:r>
              <a:rPr lang="hr-HR"/>
              <a:t>  </a:t>
            </a:r>
            <a:endParaRPr lang="hr-HR" dirty="0"/>
          </a:p>
          <a:p>
            <a:endParaRPr lang="hr-HR" dirty="0"/>
          </a:p>
          <a:p>
            <a:endParaRPr lang="hr-HR" dirty="0"/>
          </a:p>
          <a:p>
            <a:pPr marL="0" indent="0">
              <a:buNone/>
            </a:pPr>
            <a:endParaRPr lang="hr-HR" baseline="-25000" dirty="0"/>
          </a:p>
          <a:p>
            <a:endParaRPr lang="hr-HR" baseline="-25000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DFF5AB0-E0AA-DBE3-2B62-639BB37CDD8E}"/>
              </a:ext>
            </a:extLst>
          </p:cNvPr>
          <p:cNvCxnSpPr/>
          <p:nvPr/>
        </p:nvCxnSpPr>
        <p:spPr>
          <a:xfrm>
            <a:off x="5836998" y="4611982"/>
            <a:ext cx="501226" cy="104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EF1DEAB-F242-606D-5643-F0260FD4F090}"/>
              </a:ext>
            </a:extLst>
          </p:cNvPr>
          <p:cNvCxnSpPr/>
          <p:nvPr/>
        </p:nvCxnSpPr>
        <p:spPr>
          <a:xfrm>
            <a:off x="6503747" y="4615617"/>
            <a:ext cx="551089" cy="104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5326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FDEFD-DE1C-76EE-4381-0CA3D8113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3" descr="A graph of a hexagon with lines and points&#10;&#10;AI-generated content may be incorrect.">
            <a:extLst>
              <a:ext uri="{FF2B5EF4-FFF2-40B4-BE49-F238E27FC236}">
                <a16:creationId xmlns:a16="http://schemas.microsoft.com/office/drawing/2014/main" id="{2D077501-458B-4BDF-C1B3-2EDB0AA07C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64857" y="1369784"/>
            <a:ext cx="4862286" cy="41148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BCCCCE8-8192-C671-507A-5AD6B031F8F4}"/>
              </a:ext>
            </a:extLst>
          </p:cNvPr>
          <p:cNvSpPr txBox="1"/>
          <p:nvPr/>
        </p:nvSpPr>
        <p:spPr>
          <a:xfrm>
            <a:off x="4122963" y="3544661"/>
            <a:ext cx="20410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i="1"/>
              <a:t>P</a:t>
            </a:r>
            <a:endParaRPr lang="en-US" i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DDAD7A-21E5-07E4-E16F-2696024EF0B1}"/>
              </a:ext>
            </a:extLst>
          </p:cNvPr>
          <p:cNvSpPr txBox="1"/>
          <p:nvPr/>
        </p:nvSpPr>
        <p:spPr>
          <a:xfrm>
            <a:off x="7863531" y="2746778"/>
            <a:ext cx="21091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i="1"/>
              <a:t>Q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21D710-2E54-8B2E-DE82-368C7284FED1}"/>
              </a:ext>
            </a:extLst>
          </p:cNvPr>
          <p:cNvSpPr txBox="1"/>
          <p:nvPr/>
        </p:nvSpPr>
        <p:spPr>
          <a:xfrm>
            <a:off x="6244166" y="1820333"/>
            <a:ext cx="88194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i="1"/>
              <a:t>P + Q</a:t>
            </a:r>
          </a:p>
        </p:txBody>
      </p:sp>
    </p:spTree>
    <p:extLst>
      <p:ext uri="{BB962C8B-B14F-4D97-AF65-F5344CB8AC3E}">
        <p14:creationId xmlns:p14="http://schemas.microsoft.com/office/powerpoint/2010/main" val="9865106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82D3C-F54B-4568-7D40-FC1FD7DF0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r-HR" dirty="0"/>
          </a:p>
        </p:txBody>
      </p:sp>
      <p:pic>
        <p:nvPicPr>
          <p:cNvPr id="7" name="Content Placeholder 6" descr="A graph of a hexagon with lines and points&#10;&#10;AI-generated content may be incorrect.">
            <a:extLst>
              <a:ext uri="{FF2B5EF4-FFF2-40B4-BE49-F238E27FC236}">
                <a16:creationId xmlns:a16="http://schemas.microsoft.com/office/drawing/2014/main" id="{E42043DB-6E32-2D68-084D-B286F7A789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00529" y="1382114"/>
            <a:ext cx="4811818" cy="409013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972827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9CFCA-8DEC-8978-A7AC-604D3CCCD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3" descr="A graph of a hexagon with points and lines&#10;&#10;AI-generated content may be incorrect.">
            <a:extLst>
              <a:ext uri="{FF2B5EF4-FFF2-40B4-BE49-F238E27FC236}">
                <a16:creationId xmlns:a16="http://schemas.microsoft.com/office/drawing/2014/main" id="{FCD3B220-85FD-11BA-A594-7CD3BA7FF5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78737" y="1369784"/>
            <a:ext cx="4834527" cy="41148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532782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EEEE6-4E28-91AC-5CC9-25A1FAAF5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3" descr="A graph of a hexagon with lines and points&#10;&#10;AI-generated content may be incorrect.">
            <a:extLst>
              <a:ext uri="{FF2B5EF4-FFF2-40B4-BE49-F238E27FC236}">
                <a16:creationId xmlns:a16="http://schemas.microsoft.com/office/drawing/2014/main" id="{1FA34932-2D8B-EF36-F1B1-D9D0F1A4B1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74458" y="1369784"/>
            <a:ext cx="4843083" cy="41148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019230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17CC1-B735-B5C5-BE82-C00B3FFE2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D818593-7C65-9A2D-3716-16EB324B03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62202" y="1374805"/>
            <a:ext cx="4867596" cy="41148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394293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76BD4-1C6B-3F32-0C69-C76E293DD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3" descr="A graph of a rectangle and a triangle&#10;&#10;AI-generated content may be incorrect.">
            <a:extLst>
              <a:ext uri="{FF2B5EF4-FFF2-40B4-BE49-F238E27FC236}">
                <a16:creationId xmlns:a16="http://schemas.microsoft.com/office/drawing/2014/main" id="{F954EE44-E8F8-9A72-F23C-250E9A8655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98682" y="1369784"/>
            <a:ext cx="4794637" cy="41148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562159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E0A6F-C131-2B1C-C506-686B6BDFF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Udaljenost</a:t>
            </a:r>
            <a:r>
              <a:rPr lang="en-US" dirty="0"/>
              <a:t> </a:t>
            </a:r>
            <a:r>
              <a:rPr lang="en-US" dirty="0" err="1"/>
              <a:t>između</a:t>
            </a:r>
            <a:r>
              <a:rPr lang="en-US" dirty="0"/>
              <a:t> </a:t>
            </a:r>
            <a:r>
              <a:rPr lang="en-US" dirty="0" err="1"/>
              <a:t>dva</a:t>
            </a:r>
            <a:r>
              <a:rPr lang="en-US" dirty="0"/>
              <a:t> </a:t>
            </a:r>
            <a:r>
              <a:rPr lang="en-US" dirty="0" err="1"/>
              <a:t>poligona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809D50-05B6-88C5-AE93-4B084C8815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dirty="0" err="1"/>
              <a:t>Ostvaruje</a:t>
            </a:r>
            <a:r>
              <a:rPr lang="en-US" dirty="0"/>
              <a:t> se </a:t>
            </a:r>
            <a:r>
              <a:rPr lang="en-US" dirty="0" err="1"/>
              <a:t>između</a:t>
            </a:r>
            <a:r>
              <a:rPr lang="en-US" dirty="0"/>
              <a:t> </a:t>
            </a:r>
            <a:r>
              <a:rPr lang="en-US" dirty="0" err="1"/>
              <a:t>dvaju</a:t>
            </a:r>
            <a:r>
              <a:rPr lang="en-US" dirty="0"/>
              <a:t> </a:t>
            </a:r>
            <a:r>
              <a:rPr lang="en-US" dirty="0" err="1"/>
              <a:t>vrhova</a:t>
            </a:r>
            <a:r>
              <a:rPr lang="en-US" dirty="0"/>
              <a:t> </a:t>
            </a:r>
            <a:r>
              <a:rPr lang="en-US" dirty="0" err="1"/>
              <a:t>ili</a:t>
            </a:r>
            <a:r>
              <a:rPr lang="en-US" dirty="0"/>
              <a:t> </a:t>
            </a:r>
            <a:r>
              <a:rPr lang="en-US" dirty="0" err="1"/>
              <a:t>između</a:t>
            </a:r>
            <a:r>
              <a:rPr lang="en-US" dirty="0"/>
              <a:t> </a:t>
            </a:r>
            <a:r>
              <a:rPr lang="en-US" dirty="0" err="1"/>
              <a:t>vrha</a:t>
            </a:r>
            <a:r>
              <a:rPr lang="en-US" dirty="0"/>
              <a:t> </a:t>
            </a:r>
            <a:r>
              <a:rPr lang="en-US" dirty="0" err="1"/>
              <a:t>i</a:t>
            </a:r>
            <a:r>
              <a:rPr lang="en-US" dirty="0"/>
              <a:t> </a:t>
            </a:r>
            <a:r>
              <a:rPr lang="en-US" dirty="0" err="1"/>
              <a:t>stranice</a:t>
            </a:r>
            <a:r>
              <a:rPr lang="en-US" dirty="0"/>
              <a:t> </a:t>
            </a:r>
            <a:r>
              <a:rPr lang="en-US" dirty="0" err="1"/>
              <a:t>što</a:t>
            </a:r>
            <a:r>
              <a:rPr lang="en-US" dirty="0"/>
              <a:t> </a:t>
            </a:r>
            <a:r>
              <a:rPr lang="en-US" dirty="0" err="1"/>
              <a:t>nam</a:t>
            </a:r>
            <a:r>
              <a:rPr lang="en-US" dirty="0"/>
              <a:t> </a:t>
            </a:r>
            <a:r>
              <a:rPr lang="en-US" dirty="0" err="1"/>
              <a:t>daje</a:t>
            </a:r>
            <a:r>
              <a:rPr lang="en-US" dirty="0"/>
              <a:t> </a:t>
            </a:r>
            <a:r>
              <a:rPr lang="en-US" dirty="0" err="1"/>
              <a:t>vremensku</a:t>
            </a:r>
            <a:r>
              <a:rPr lang="en-US" dirty="0"/>
              <a:t> </a:t>
            </a:r>
            <a:r>
              <a:rPr lang="en-US" dirty="0" err="1"/>
              <a:t>složenost</a:t>
            </a:r>
            <a:r>
              <a:rPr lang="en-US" dirty="0"/>
              <a:t> </a:t>
            </a:r>
            <a:r>
              <a:rPr lang="en-US" i="1" dirty="0"/>
              <a:t>O(|P||Q|)</a:t>
            </a:r>
            <a:endParaRPr lang="en-US" dirty="0"/>
          </a:p>
          <a:p>
            <a:endParaRPr lang="en-US" i="1" dirty="0"/>
          </a:p>
          <a:p>
            <a:endParaRPr lang="en-US" dirty="0"/>
          </a:p>
          <a:p>
            <a:endParaRPr lang="en-US"/>
          </a:p>
          <a:p>
            <a:endParaRPr lang="en-US" dirty="0"/>
          </a:p>
          <a:p>
            <a:r>
              <a:rPr lang="en-US" dirty="0"/>
              <a:t>Korištenjem Minkowskijeve </a:t>
            </a:r>
            <a:r>
              <a:rPr lang="en-US" dirty="0" err="1"/>
              <a:t>sume</a:t>
            </a:r>
            <a:r>
              <a:rPr lang="en-US" dirty="0"/>
              <a:t> problem </a:t>
            </a:r>
            <a:r>
              <a:rPr lang="en-US" dirty="0" err="1"/>
              <a:t>možemo</a:t>
            </a:r>
            <a:r>
              <a:rPr lang="en-US" dirty="0"/>
              <a:t> </a:t>
            </a:r>
            <a:r>
              <a:rPr lang="en-US" dirty="0" err="1"/>
              <a:t>riješiti</a:t>
            </a:r>
            <a:r>
              <a:rPr lang="en-US" dirty="0"/>
              <a:t> u </a:t>
            </a:r>
            <a:r>
              <a:rPr lang="en-US" dirty="0" err="1"/>
              <a:t>složenosti</a:t>
            </a:r>
            <a:r>
              <a:rPr lang="en-US" dirty="0"/>
              <a:t> </a:t>
            </a:r>
            <a:r>
              <a:rPr lang="en-US" i="1" dirty="0"/>
              <a:t>O(|P| + |Q|)</a:t>
            </a:r>
            <a:endParaRPr lang="en-US" dirty="0"/>
          </a:p>
          <a:p>
            <a:endParaRPr lang="en-US" i="1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black and white image of triangles&#10;&#10;AI-generated content may be incorrect.">
            <a:extLst>
              <a:ext uri="{FF2B5EF4-FFF2-40B4-BE49-F238E27FC236}">
                <a16:creationId xmlns:a16="http://schemas.microsoft.com/office/drawing/2014/main" id="{3572CA47-EDFB-0B85-3381-D9CDA7F96D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7237" y="3356986"/>
            <a:ext cx="8403222" cy="1734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3593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0D41AE-4CDC-6C96-3DE5-35CBA2A5C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64E4C-9F16-F2ED-CE74-70A8B085F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Udaljenost</a:t>
            </a:r>
            <a:r>
              <a:rPr lang="en-US" dirty="0"/>
              <a:t> </a:t>
            </a:r>
            <a:r>
              <a:rPr lang="en-US" dirty="0" err="1"/>
              <a:t>između</a:t>
            </a:r>
            <a:r>
              <a:rPr lang="en-US" dirty="0"/>
              <a:t> </a:t>
            </a:r>
            <a:r>
              <a:rPr lang="en-US" dirty="0" err="1"/>
              <a:t>dva</a:t>
            </a:r>
            <a:r>
              <a:rPr lang="en-US" dirty="0"/>
              <a:t> </a:t>
            </a:r>
            <a:r>
              <a:rPr lang="en-US" dirty="0" err="1"/>
              <a:t>poligona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E14D5-5486-215F-36AA-828DCB563A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946752"/>
            <a:ext cx="10018713" cy="3124201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US" dirty="0"/>
              <a:t>       </a:t>
            </a:r>
          </a:p>
          <a:p>
            <a:endParaRPr lang="en-US" dirty="0"/>
          </a:p>
          <a:p>
            <a:r>
              <a:rPr lang="en-US" dirty="0" err="1"/>
              <a:t>Konstruiramo</a:t>
            </a:r>
            <a:r>
              <a:rPr lang="en-US" dirty="0"/>
              <a:t> </a:t>
            </a:r>
            <a:r>
              <a:rPr lang="en-US" dirty="0" err="1"/>
              <a:t>poligon</a:t>
            </a:r>
            <a:r>
              <a:rPr lang="en-US" dirty="0"/>
              <a:t>  </a:t>
            </a:r>
            <a:r>
              <a:rPr lang="en-US" i="1" dirty="0"/>
              <a:t>–Q 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potom</a:t>
            </a:r>
            <a:r>
              <a:rPr lang="en-US" dirty="0"/>
              <a:t> </a:t>
            </a:r>
            <a:r>
              <a:rPr lang="en-US" dirty="0" err="1"/>
              <a:t>poligon</a:t>
            </a:r>
            <a:r>
              <a:rPr lang="en-US" dirty="0"/>
              <a:t> </a:t>
            </a:r>
            <a:r>
              <a:rPr lang="en-US" i="1" dirty="0"/>
              <a:t>P + (–Q)</a:t>
            </a:r>
            <a:r>
              <a:rPr lang="en-US" dirty="0"/>
              <a:t> </a:t>
            </a:r>
          </a:p>
          <a:p>
            <a:endParaRPr lang="en-US" dirty="0"/>
          </a:p>
          <a:p>
            <a:r>
              <a:rPr lang="en-US" dirty="0" err="1"/>
              <a:t>Udaljenost</a:t>
            </a:r>
            <a:r>
              <a:rPr lang="en-US" dirty="0"/>
              <a:t> se </a:t>
            </a:r>
            <a:r>
              <a:rPr lang="en-US" dirty="0" err="1"/>
              <a:t>postiže</a:t>
            </a:r>
            <a:r>
              <a:rPr lang="en-US" dirty="0"/>
              <a:t> </a:t>
            </a:r>
            <a:r>
              <a:rPr lang="en-US" dirty="0" err="1"/>
              <a:t>između</a:t>
            </a:r>
            <a:r>
              <a:rPr lang="en-US" dirty="0"/>
              <a:t> </a:t>
            </a:r>
            <a:r>
              <a:rPr lang="en-US" dirty="0" err="1"/>
              <a:t>ishodišta</a:t>
            </a:r>
            <a:r>
              <a:rPr lang="en-US" dirty="0"/>
              <a:t> 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poligona</a:t>
            </a:r>
            <a:r>
              <a:rPr lang="en-US" dirty="0"/>
              <a:t> </a:t>
            </a:r>
            <a:r>
              <a:rPr lang="hr-HR" i="1" dirty="0"/>
              <a:t>P </a:t>
            </a:r>
            <a:r>
              <a:rPr lang="en-US" i="1" dirty="0"/>
              <a:t>–</a:t>
            </a:r>
            <a:r>
              <a:rPr lang="hr-HR" i="1" dirty="0"/>
              <a:t> Q</a:t>
            </a:r>
            <a:endParaRPr lang="en-US" dirty="0"/>
          </a:p>
          <a:p>
            <a:endParaRPr lang="hr-HR" i="1" dirty="0"/>
          </a:p>
          <a:p>
            <a:r>
              <a:rPr lang="en-US" dirty="0"/>
              <a:t>Ako se </a:t>
            </a:r>
            <a:r>
              <a:rPr lang="en-US" dirty="0" err="1"/>
              <a:t>poligoni</a:t>
            </a:r>
            <a:r>
              <a:rPr lang="en-US" dirty="0"/>
              <a:t> </a:t>
            </a:r>
            <a:r>
              <a:rPr lang="en-US" dirty="0" err="1"/>
              <a:t>presijecaju</a:t>
            </a:r>
            <a:r>
              <a:rPr lang="en-US" dirty="0"/>
              <a:t> - </a:t>
            </a:r>
            <a:r>
              <a:rPr lang="en-US" i="1" dirty="0"/>
              <a:t>(</a:t>
            </a:r>
            <a:r>
              <a:rPr lang="en-US" i="1" dirty="0">
                <a:latin typeface="Aptos Display"/>
              </a:rPr>
              <a:t>0,0</a:t>
            </a:r>
            <a:r>
              <a:rPr lang="en-US" i="1" dirty="0"/>
              <a:t>)</a:t>
            </a:r>
            <a:r>
              <a:rPr lang="en-US" dirty="0"/>
              <a:t> </a:t>
            </a:r>
            <a:r>
              <a:rPr lang="hr-HR" dirty="0"/>
              <a:t>∈ </a:t>
            </a:r>
            <a:r>
              <a:rPr lang="hr-HR" i="1" dirty="0"/>
              <a:t>P </a:t>
            </a:r>
            <a:r>
              <a:rPr lang="en-US" i="1" dirty="0"/>
              <a:t>–</a:t>
            </a:r>
            <a:r>
              <a:rPr lang="hr-HR" i="1" dirty="0"/>
              <a:t> Q </a:t>
            </a:r>
            <a:endParaRPr lang="hr-HR" dirty="0"/>
          </a:p>
          <a:p>
            <a:pPr marL="0" indent="0">
              <a:buNone/>
            </a:pPr>
            <a:r>
              <a:rPr lang="hr-HR" dirty="0"/>
              <a:t>   </a:t>
            </a:r>
            <a:r>
              <a:rPr lang="hr-HR" i="1" dirty="0"/>
              <a:t>(postoje a ∈ P i b ∈ Q takvi da a </a:t>
            </a:r>
            <a:r>
              <a:rPr lang="en-US" i="1"/>
              <a:t>– b = (</a:t>
            </a:r>
            <a:r>
              <a:rPr lang="en-US" i="1">
                <a:latin typeface="Aptos"/>
              </a:rPr>
              <a:t>0, 0</a:t>
            </a:r>
            <a:r>
              <a:rPr lang="en-US" i="1"/>
              <a:t>))</a:t>
            </a:r>
            <a:endParaRPr lang="hr-HR" dirty="0"/>
          </a:p>
          <a:p>
            <a:pPr marL="457200" lvl="1" indent="0">
              <a:buNone/>
            </a:pPr>
            <a:endParaRPr lang="en-US" i="1" dirty="0"/>
          </a:p>
          <a:p>
            <a:endParaRPr lang="en-US" dirty="0"/>
          </a:p>
          <a:p>
            <a:endParaRPr lang="en-US" dirty="0"/>
          </a:p>
          <a:p>
            <a:endParaRPr lang="en-US" i="1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 descr="A close-up of a black and white text&#10;&#10;AI-generated content may be incorrect.">
            <a:extLst>
              <a:ext uri="{FF2B5EF4-FFF2-40B4-BE49-F238E27FC236}">
                <a16:creationId xmlns:a16="http://schemas.microsoft.com/office/drawing/2014/main" id="{177A2F12-6376-8D19-F049-C5898DF7BB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5774" y="1948384"/>
            <a:ext cx="1995684" cy="570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167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5E18A-E77D-4AC0-7EC9-284049F9B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A black and white drawing of a hexagon&#10;&#10;AI-generated content may be incorrect.">
            <a:extLst>
              <a:ext uri="{FF2B5EF4-FFF2-40B4-BE49-F238E27FC236}">
                <a16:creationId xmlns:a16="http://schemas.microsoft.com/office/drawing/2014/main" id="{776CC48E-13F8-57D1-6A36-E1B080008F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94042" y="361417"/>
            <a:ext cx="7203914" cy="619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0748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A1C79-0569-459F-E128-EAE5B3D58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rgbClr val="000000"/>
                </a:solidFill>
                <a:latin typeface="Aptos Display"/>
              </a:rPr>
              <a:t>Vrijeme</a:t>
            </a:r>
            <a:r>
              <a:rPr lang="en-US" dirty="0">
                <a:solidFill>
                  <a:srgbClr val="000000"/>
                </a:solidFill>
                <a:latin typeface="Aptos Display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ptos Display"/>
              </a:rPr>
              <a:t>izračuna</a:t>
            </a:r>
            <a:r>
              <a:rPr lang="en-US" dirty="0">
                <a:solidFill>
                  <a:srgbClr val="000000"/>
                </a:solidFill>
                <a:latin typeface="Aptos Display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ptos Display"/>
              </a:rPr>
              <a:t>udaljenosti</a:t>
            </a:r>
            <a:endParaRPr lang="en-US" dirty="0" err="1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F5877C6F-3330-4BD3-9288-D1065274E7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69138106"/>
              </p:ext>
            </p:extLst>
          </p:nvPr>
        </p:nvGraphicFramePr>
        <p:xfrm>
          <a:off x="1616623" y="2342156"/>
          <a:ext cx="8970701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4794">
                  <a:extLst>
                    <a:ext uri="{9D8B030D-6E8A-4147-A177-3AD203B41FA5}">
                      <a16:colId xmlns:a16="http://schemas.microsoft.com/office/drawing/2014/main" val="2317145722"/>
                    </a:ext>
                  </a:extLst>
                </a:gridCol>
                <a:gridCol w="3663861">
                  <a:extLst>
                    <a:ext uri="{9D8B030D-6E8A-4147-A177-3AD203B41FA5}">
                      <a16:colId xmlns:a16="http://schemas.microsoft.com/office/drawing/2014/main" val="1187464655"/>
                    </a:ext>
                  </a:extLst>
                </a:gridCol>
                <a:gridCol w="4002046">
                  <a:extLst>
                    <a:ext uri="{9D8B030D-6E8A-4147-A177-3AD203B41FA5}">
                      <a16:colId xmlns:a16="http://schemas.microsoft.com/office/drawing/2014/main" val="21784764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# </a:t>
                      </a:r>
                      <a:r>
                        <a:rPr lang="en-US" dirty="0" err="1"/>
                        <a:t>tocaka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Efikasni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algoritam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 dirty="0" err="1">
                          <a:solidFill>
                            <a:srgbClr val="FFFFFF"/>
                          </a:solidFill>
                          <a:latin typeface="Aptos"/>
                        </a:rPr>
                        <a:t>Neefikasni</a:t>
                      </a:r>
                      <a:r>
                        <a:rPr lang="en-US" sz="1800" b="1" i="0" u="none" strike="noStrike" noProof="0" dirty="0">
                          <a:solidFill>
                            <a:srgbClr val="FFFFFF"/>
                          </a:solidFill>
                          <a:latin typeface="Aptos"/>
                        </a:rPr>
                        <a:t> </a:t>
                      </a:r>
                      <a:r>
                        <a:rPr lang="en-US" sz="1800" b="1" i="0" u="none" strike="noStrike" noProof="0" dirty="0" err="1">
                          <a:solidFill>
                            <a:srgbClr val="FFFFFF"/>
                          </a:solidFill>
                          <a:latin typeface="Aptos"/>
                        </a:rPr>
                        <a:t>algoritam</a:t>
                      </a:r>
                      <a:endParaRPr lang="en-US" dirty="0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5899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 µs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 µs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4381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1 000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 µs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85967 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µs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98800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10 000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4 028 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µs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8.39 s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4969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100 000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1.5s</a:t>
                      </a: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 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53845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1 000 000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17.70s</a:t>
                      </a: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14455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10 000 000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2min 56s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57159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27061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3B70A-1599-8ACF-8AC1-3A3EEE3D5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Zadatak</a:t>
            </a:r>
            <a:r>
              <a:rPr lang="en-US" dirty="0"/>
              <a:t>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43A1C4-D592-2EB7-B01D-209AEE40F6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3 </a:t>
            </a:r>
            <a:r>
              <a:rPr lang="en-US" dirty="0" err="1"/>
              <a:t>grada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reprezentirana</a:t>
            </a:r>
            <a:r>
              <a:rPr lang="en-US" dirty="0"/>
              <a:t> s 3 </a:t>
            </a:r>
            <a:r>
              <a:rPr lang="en-US" dirty="0" err="1"/>
              <a:t>poligona</a:t>
            </a:r>
            <a:r>
              <a:rPr lang="en-US" dirty="0"/>
              <a:t> </a:t>
            </a:r>
          </a:p>
          <a:p>
            <a:r>
              <a:rPr lang="en-US" dirty="0" err="1"/>
              <a:t>Zadane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koordinate m </a:t>
            </a:r>
            <a:r>
              <a:rPr lang="en-US" dirty="0" err="1"/>
              <a:t>brda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Tražimo</a:t>
            </a:r>
            <a:r>
              <a:rPr lang="en-US" dirty="0"/>
              <a:t> </a:t>
            </a:r>
            <a:r>
              <a:rPr lang="en-US" dirty="0" err="1"/>
              <a:t>sva</a:t>
            </a:r>
            <a:r>
              <a:rPr lang="en-US" dirty="0"/>
              <a:t> </a:t>
            </a:r>
            <a:r>
              <a:rPr lang="en-US" dirty="0" err="1"/>
              <a:t>brda</a:t>
            </a:r>
            <a:r>
              <a:rPr lang="en-US" dirty="0"/>
              <a:t> 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kojima</a:t>
            </a:r>
            <a:r>
              <a:rPr lang="en-US" dirty="0"/>
              <a:t> se idol </a:t>
            </a:r>
            <a:r>
              <a:rPr lang="en-US" dirty="0" err="1"/>
              <a:t>može</a:t>
            </a:r>
            <a:r>
              <a:rPr lang="en-US" dirty="0"/>
              <a:t> </a:t>
            </a:r>
            <a:r>
              <a:rPr lang="en-US" dirty="0" err="1"/>
              <a:t>izbalansirati</a:t>
            </a:r>
          </a:p>
          <a:p>
            <a:endParaRPr lang="en-US" dirty="0"/>
          </a:p>
          <a:p>
            <a:r>
              <a:rPr lang="en-US" dirty="0"/>
              <a:t>Idol je </a:t>
            </a:r>
            <a:r>
              <a:rPr lang="en-US" dirty="0" err="1"/>
              <a:t>balansiran</a:t>
            </a:r>
            <a:r>
              <a:rPr lang="en-US" dirty="0"/>
              <a:t> </a:t>
            </a:r>
            <a:r>
              <a:rPr lang="en-US" dirty="0" err="1"/>
              <a:t>ako</a:t>
            </a:r>
            <a:r>
              <a:rPr lang="en-US" dirty="0"/>
              <a:t> </a:t>
            </a:r>
            <a:r>
              <a:rPr lang="en-US" dirty="0" err="1"/>
              <a:t>možemo</a:t>
            </a:r>
            <a:r>
              <a:rPr lang="en-US" dirty="0"/>
              <a:t> </a:t>
            </a:r>
            <a:r>
              <a:rPr lang="en-US" dirty="0" err="1"/>
              <a:t>postaviti</a:t>
            </a:r>
            <a:r>
              <a:rPr lang="en-US" dirty="0"/>
              <a:t> tri </a:t>
            </a:r>
            <a:r>
              <a:rPr lang="en-US" dirty="0" err="1"/>
              <a:t>oltara</a:t>
            </a:r>
            <a:r>
              <a:rPr lang="en-US" dirty="0"/>
              <a:t>, </a:t>
            </a:r>
            <a:r>
              <a:rPr lang="en-US" dirty="0" err="1"/>
              <a:t>svaki</a:t>
            </a:r>
            <a:r>
              <a:rPr lang="en-US" dirty="0"/>
              <a:t> u </a:t>
            </a:r>
            <a:r>
              <a:rPr lang="en-US" dirty="0" err="1"/>
              <a:t>jedan</a:t>
            </a:r>
            <a:r>
              <a:rPr lang="en-US" dirty="0"/>
              <a:t> grad, </a:t>
            </a:r>
            <a:r>
              <a:rPr lang="en-US" dirty="0" err="1"/>
              <a:t>tako</a:t>
            </a:r>
            <a:r>
              <a:rPr lang="en-US" dirty="0"/>
              <a:t> da je idol u </a:t>
            </a:r>
            <a:r>
              <a:rPr lang="en-US" dirty="0" err="1"/>
              <a:t>težištu</a:t>
            </a:r>
            <a:r>
              <a:rPr lang="en-US" dirty="0"/>
              <a:t> </a:t>
            </a:r>
            <a:r>
              <a:rPr lang="en-US" dirty="0" err="1"/>
              <a:t>trokuta</a:t>
            </a:r>
            <a:r>
              <a:rPr lang="en-US" dirty="0"/>
              <a:t> koji </a:t>
            </a:r>
            <a:r>
              <a:rPr lang="en-US" dirty="0" err="1"/>
              <a:t>tvore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81293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ABAB7-B65B-6729-EAA9-FBBB3FCFF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Zadatak</a:t>
            </a:r>
            <a:r>
              <a:rPr lang="en-US" dirty="0"/>
              <a:t> 1 - </a:t>
            </a:r>
            <a:r>
              <a:rPr lang="en-US" dirty="0" err="1"/>
              <a:t>rješenje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F11FC3-7842-2C1B-56DA-C97ECDCF5D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Za </a:t>
            </a:r>
            <a:r>
              <a:rPr lang="en-US" dirty="0" err="1"/>
              <a:t>oltare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točkama</a:t>
            </a:r>
            <a:r>
              <a:rPr lang="en-US" dirty="0"/>
              <a:t> (x</a:t>
            </a:r>
            <a:r>
              <a:rPr lang="en-US" baseline="-25000" dirty="0"/>
              <a:t>1</a:t>
            </a:r>
            <a:r>
              <a:rPr lang="en-US" dirty="0"/>
              <a:t>, y</a:t>
            </a:r>
            <a:r>
              <a:rPr lang="en-US" baseline="-25000" dirty="0"/>
              <a:t>1</a:t>
            </a:r>
            <a:r>
              <a:rPr lang="en-US" dirty="0"/>
              <a:t>), (x</a:t>
            </a:r>
            <a:r>
              <a:rPr lang="en-US" baseline="-25000" dirty="0"/>
              <a:t>2</a:t>
            </a:r>
            <a:r>
              <a:rPr lang="en-US" dirty="0"/>
              <a:t>, y</a:t>
            </a:r>
            <a:r>
              <a:rPr lang="en-US" baseline="-25000" dirty="0"/>
              <a:t>2</a:t>
            </a:r>
            <a:r>
              <a:rPr lang="en-US" dirty="0"/>
              <a:t>), (x</a:t>
            </a:r>
            <a:r>
              <a:rPr lang="en-US" baseline="-25000" dirty="0"/>
              <a:t>3</a:t>
            </a:r>
            <a:r>
              <a:rPr lang="en-US" dirty="0"/>
              <a:t>, y</a:t>
            </a:r>
            <a:r>
              <a:rPr lang="en-US" baseline="-25000" dirty="0"/>
              <a:t>3</a:t>
            </a:r>
            <a:r>
              <a:rPr lang="en-US" dirty="0"/>
              <a:t>), </a:t>
            </a:r>
            <a:r>
              <a:rPr lang="en-US" dirty="0" err="1"/>
              <a:t>težište</a:t>
            </a:r>
            <a:r>
              <a:rPr lang="en-US" dirty="0"/>
              <a:t> se </a:t>
            </a:r>
            <a:r>
              <a:rPr lang="en-US" dirty="0" err="1"/>
              <a:t>nalazi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 ((x</a:t>
            </a:r>
            <a:r>
              <a:rPr lang="en-US" baseline="-25000" dirty="0"/>
              <a:t>1</a:t>
            </a:r>
            <a:r>
              <a:rPr lang="en-US" dirty="0"/>
              <a:t> + x</a:t>
            </a:r>
            <a:r>
              <a:rPr lang="en-US" baseline="-25000" dirty="0"/>
              <a:t>2</a:t>
            </a:r>
            <a:r>
              <a:rPr lang="en-US" dirty="0"/>
              <a:t> + x</a:t>
            </a:r>
            <a:r>
              <a:rPr lang="en-US" baseline="-25000" dirty="0"/>
              <a:t>3</a:t>
            </a:r>
            <a:r>
              <a:rPr lang="en-US" dirty="0"/>
              <a:t>)/3, (y</a:t>
            </a:r>
            <a:r>
              <a:rPr lang="en-US" baseline="-25000" dirty="0"/>
              <a:t>1</a:t>
            </a:r>
            <a:r>
              <a:rPr lang="en-US" dirty="0"/>
              <a:t> + y</a:t>
            </a:r>
            <a:r>
              <a:rPr lang="en-US" baseline="-25000" dirty="0"/>
              <a:t>2</a:t>
            </a:r>
            <a:r>
              <a:rPr lang="en-US" dirty="0"/>
              <a:t> + y</a:t>
            </a:r>
            <a:r>
              <a:rPr lang="en-US" baseline="-25000" dirty="0"/>
              <a:t>3</a:t>
            </a:r>
            <a:r>
              <a:rPr lang="en-US" dirty="0"/>
              <a:t>)/3)</a:t>
            </a:r>
          </a:p>
          <a:p>
            <a:endParaRPr lang="en-US" dirty="0"/>
          </a:p>
          <a:p>
            <a:r>
              <a:rPr lang="en-US" dirty="0"/>
              <a:t>Za </a:t>
            </a:r>
            <a:r>
              <a:rPr lang="en-US" dirty="0" err="1"/>
              <a:t>poligone</a:t>
            </a:r>
            <a:r>
              <a:rPr lang="en-US" dirty="0"/>
              <a:t> </a:t>
            </a:r>
            <a:r>
              <a:rPr lang="en-US" dirty="0" err="1"/>
              <a:t>gradova</a:t>
            </a:r>
            <a:r>
              <a:rPr lang="en-US" dirty="0"/>
              <a:t> P, Q, R, </a:t>
            </a:r>
            <a:r>
              <a:rPr lang="en-US" dirty="0" err="1"/>
              <a:t>konstruiramo</a:t>
            </a:r>
            <a:r>
              <a:rPr lang="en-US" dirty="0"/>
              <a:t> </a:t>
            </a:r>
            <a:r>
              <a:rPr lang="en-US" dirty="0" err="1"/>
              <a:t>skup</a:t>
            </a:r>
            <a:r>
              <a:rPr lang="en-US" dirty="0"/>
              <a:t> (P + Q + R)/3</a:t>
            </a:r>
          </a:p>
          <a:p>
            <a:endParaRPr lang="en-US" dirty="0"/>
          </a:p>
          <a:p>
            <a:r>
              <a:rPr lang="en-US" dirty="0"/>
              <a:t>Za </a:t>
            </a:r>
            <a:r>
              <a:rPr lang="en-US" dirty="0" err="1"/>
              <a:t>svako</a:t>
            </a:r>
            <a:r>
              <a:rPr lang="en-US" dirty="0"/>
              <a:t> </a:t>
            </a:r>
            <a:r>
              <a:rPr lang="en-US" dirty="0" err="1"/>
              <a:t>brdo</a:t>
            </a:r>
            <a:r>
              <a:rPr lang="en-US" dirty="0"/>
              <a:t> </a:t>
            </a:r>
            <a:r>
              <a:rPr lang="en-US" dirty="0" err="1"/>
              <a:t>provjerimo</a:t>
            </a:r>
            <a:r>
              <a:rPr lang="en-US" dirty="0"/>
              <a:t> </a:t>
            </a:r>
            <a:r>
              <a:rPr lang="en-US" dirty="0" err="1"/>
              <a:t>nalazi</a:t>
            </a:r>
            <a:r>
              <a:rPr lang="en-US" dirty="0"/>
              <a:t> li se </a:t>
            </a:r>
            <a:r>
              <a:rPr lang="en-US" dirty="0" err="1"/>
              <a:t>unutar</a:t>
            </a:r>
            <a:r>
              <a:rPr lang="en-US" dirty="0"/>
              <a:t> </a:t>
            </a:r>
            <a:r>
              <a:rPr lang="en-US" dirty="0" err="1"/>
              <a:t>skupa</a:t>
            </a:r>
            <a:r>
              <a:rPr lang="en-US" dirty="0"/>
              <a:t> (P + Q + R)/3</a:t>
            </a:r>
          </a:p>
        </p:txBody>
      </p:sp>
    </p:spTree>
    <p:extLst>
      <p:ext uri="{BB962C8B-B14F-4D97-AF65-F5344CB8AC3E}">
        <p14:creationId xmlns:p14="http://schemas.microsoft.com/office/powerpoint/2010/main" val="2329740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6B6C6-1ED1-C1B4-D5E0-46FD9F687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Zadatak</a:t>
            </a:r>
            <a:r>
              <a:rPr lang="en-US" dirty="0"/>
              <a:t>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3EFAB-1629-106A-23F5-8F023B902F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9176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4262A-5F93-6550-E174-A8B189228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Zadatak</a:t>
            </a:r>
            <a:r>
              <a:rPr lang="en-US" dirty="0"/>
              <a:t>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FE7BC-23EE-9F8F-B5E6-3878AF7CB0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dirty="0"/>
              <a:t>Zadan je </a:t>
            </a:r>
            <a:r>
              <a:rPr lang="en-US" dirty="0" err="1"/>
              <a:t>niz</a:t>
            </a:r>
            <a:r>
              <a:rPr lang="en-US" dirty="0"/>
              <a:t> od n ≤ 100 000 </a:t>
            </a:r>
            <a:r>
              <a:rPr lang="en-US" dirty="0" err="1"/>
              <a:t>konveksnih</a:t>
            </a:r>
            <a:r>
              <a:rPr lang="en-US" dirty="0"/>
              <a:t> </a:t>
            </a:r>
            <a:r>
              <a:rPr lang="en-US" dirty="0" err="1"/>
              <a:t>poligona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Zadano</a:t>
            </a:r>
            <a:r>
              <a:rPr lang="en-US" dirty="0"/>
              <a:t> je q ≤ 100 000 </a:t>
            </a:r>
            <a:r>
              <a:rPr lang="en-US" dirty="0" err="1"/>
              <a:t>upita</a:t>
            </a:r>
            <a:endParaRPr lang="en-US"/>
          </a:p>
          <a:p>
            <a:endParaRPr lang="en-US" dirty="0"/>
          </a:p>
          <a:p>
            <a:r>
              <a:rPr lang="en-US" dirty="0"/>
              <a:t>Za </a:t>
            </a:r>
            <a:r>
              <a:rPr lang="en-US" dirty="0" err="1"/>
              <a:t>svaki</a:t>
            </a:r>
            <a:r>
              <a:rPr lang="en-US" dirty="0"/>
              <a:t> </a:t>
            </a:r>
            <a:r>
              <a:rPr lang="en-US" dirty="0" err="1"/>
              <a:t>upit</a:t>
            </a:r>
            <a:r>
              <a:rPr lang="en-US" dirty="0"/>
              <a:t> (l</a:t>
            </a:r>
            <a:r>
              <a:rPr lang="en-US" baseline="-25000" dirty="0"/>
              <a:t>i</a:t>
            </a:r>
            <a:r>
              <a:rPr lang="en-US" dirty="0"/>
              <a:t>, </a:t>
            </a:r>
            <a:r>
              <a:rPr lang="en-US" dirty="0" err="1"/>
              <a:t>r</a:t>
            </a:r>
            <a:r>
              <a:rPr lang="en-US" baseline="-25000" dirty="0" err="1"/>
              <a:t>i</a:t>
            </a:r>
            <a:r>
              <a:rPr lang="en-US" dirty="0"/>
              <a:t>) </a:t>
            </a:r>
            <a:r>
              <a:rPr lang="en-US" dirty="0" err="1"/>
              <a:t>potrebno</a:t>
            </a:r>
            <a:r>
              <a:rPr lang="en-US" dirty="0"/>
              <a:t> je </a:t>
            </a:r>
            <a:r>
              <a:rPr lang="en-US" dirty="0" err="1"/>
              <a:t>izračunati</a:t>
            </a:r>
            <a:r>
              <a:rPr lang="en-US" dirty="0"/>
              <a:t> </a:t>
            </a:r>
            <a:r>
              <a:rPr lang="en-US" dirty="0" err="1"/>
              <a:t>Minkowskijevu</a:t>
            </a:r>
            <a:r>
              <a:rPr lang="en-US" dirty="0"/>
              <a:t> </a:t>
            </a:r>
            <a:r>
              <a:rPr lang="en-US" dirty="0" err="1"/>
              <a:t>sumu</a:t>
            </a:r>
            <a:r>
              <a:rPr lang="en-US" dirty="0"/>
              <a:t> </a:t>
            </a:r>
            <a:r>
              <a:rPr lang="en-US" dirty="0" err="1"/>
              <a:t>poligona</a:t>
            </a:r>
            <a:r>
              <a:rPr lang="en-US" dirty="0"/>
              <a:t> </a:t>
            </a:r>
            <a:r>
              <a:rPr lang="en-US" dirty="0" err="1"/>
              <a:t>A</a:t>
            </a:r>
            <a:r>
              <a:rPr lang="en-US" baseline="-25000" dirty="0" err="1"/>
              <a:t>l_i</a:t>
            </a:r>
            <a:r>
              <a:rPr lang="en-US" dirty="0"/>
              <a:t> + A</a:t>
            </a:r>
            <a:r>
              <a:rPr lang="en-US" baseline="-25000" dirty="0"/>
              <a:t>l_i+1</a:t>
            </a:r>
            <a:r>
              <a:rPr lang="en-US" dirty="0"/>
              <a:t> + … + </a:t>
            </a:r>
            <a:r>
              <a:rPr lang="en-US" dirty="0" err="1"/>
              <a:t>A</a:t>
            </a:r>
            <a:r>
              <a:rPr lang="en-US" baseline="-25000" dirty="0" err="1"/>
              <a:t>r_I</a:t>
            </a:r>
          </a:p>
          <a:p>
            <a:pPr>
              <a:buClr>
                <a:srgbClr val="30ACEC">
                  <a:lumMod val="75000"/>
                </a:srgbClr>
              </a:buClr>
            </a:pPr>
            <a:endParaRPr lang="en-US" dirty="0"/>
          </a:p>
          <a:p>
            <a:r>
              <a:rPr lang="en-US" dirty="0"/>
              <a:t>Za </a:t>
            </a:r>
            <a:r>
              <a:rPr lang="en-US" dirty="0" err="1"/>
              <a:t>svaki</a:t>
            </a:r>
            <a:r>
              <a:rPr lang="en-US" dirty="0"/>
              <a:t> </a:t>
            </a:r>
            <a:r>
              <a:rPr lang="en-US" dirty="0" err="1"/>
              <a:t>upit</a:t>
            </a:r>
            <a:r>
              <a:rPr lang="en-US" dirty="0"/>
              <a:t> </a:t>
            </a:r>
            <a:r>
              <a:rPr lang="en-US" dirty="0" err="1"/>
              <a:t>treba</a:t>
            </a:r>
            <a:r>
              <a:rPr lang="en-US" dirty="0"/>
              <a:t> </a:t>
            </a:r>
            <a:r>
              <a:rPr lang="en-US" dirty="0" err="1"/>
              <a:t>ispisati</a:t>
            </a:r>
            <a:r>
              <a:rPr lang="en-US" dirty="0"/>
              <a:t> </a:t>
            </a:r>
            <a:r>
              <a:rPr lang="en-US" dirty="0" err="1"/>
              <a:t>broj</a:t>
            </a:r>
            <a:r>
              <a:rPr lang="en-US" dirty="0"/>
              <a:t> </a:t>
            </a:r>
            <a:r>
              <a:rPr lang="en-US" dirty="0" err="1"/>
              <a:t>vrhova</a:t>
            </a:r>
            <a:r>
              <a:rPr lang="en-US" dirty="0"/>
              <a:t> </a:t>
            </a:r>
            <a:r>
              <a:rPr lang="en-US" dirty="0" err="1"/>
              <a:t>dobivenog</a:t>
            </a:r>
            <a:r>
              <a:rPr lang="en-US" dirty="0"/>
              <a:t> </a:t>
            </a:r>
            <a:r>
              <a:rPr lang="en-US" dirty="0" err="1"/>
              <a:t>poligona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94457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EE4F3-376E-4BF1-4AC8-BC65C5FBB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-3132"/>
            <a:ext cx="10018713" cy="1752599"/>
          </a:xfrm>
        </p:spPr>
        <p:txBody>
          <a:bodyPr/>
          <a:lstStyle/>
          <a:p>
            <a:r>
              <a:rPr lang="en-US" dirty="0" err="1"/>
              <a:t>Zadatak</a:t>
            </a:r>
            <a:r>
              <a:rPr lang="en-US" dirty="0"/>
              <a:t> 3 - </a:t>
            </a:r>
            <a:r>
              <a:rPr lang="en-US" dirty="0" err="1"/>
              <a:t>rješenje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FEB9D3-E3ED-413B-A9E1-EABF895D10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383081"/>
            <a:ext cx="10018713" cy="3124201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2400" dirty="0"/>
              <a:t>ATP Dynamic Range Query </a:t>
            </a:r>
            <a:r>
              <a:rPr lang="en-US" sz="2400" dirty="0" err="1"/>
              <a:t>implementiran</a:t>
            </a:r>
            <a:r>
              <a:rPr lang="en-US" sz="2400" dirty="0"/>
              <a:t> </a:t>
            </a:r>
            <a:r>
              <a:rPr lang="en-US" sz="2400" dirty="0" err="1"/>
              <a:t>pomoću</a:t>
            </a:r>
            <a:r>
              <a:rPr lang="en-US" sz="2400" dirty="0"/>
              <a:t> </a:t>
            </a:r>
            <a:r>
              <a:rPr lang="en-US" sz="2400" dirty="0" err="1"/>
              <a:t>segmentnog</a:t>
            </a:r>
            <a:r>
              <a:rPr lang="en-US" sz="2400" dirty="0"/>
              <a:t> </a:t>
            </a:r>
            <a:r>
              <a:rPr lang="en-US" sz="2400" dirty="0" err="1"/>
              <a:t>stabla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Svaki </a:t>
            </a:r>
            <a:r>
              <a:rPr lang="en-US" sz="2400" dirty="0" err="1"/>
              <a:t>čvor</a:t>
            </a:r>
            <a:r>
              <a:rPr lang="en-US" sz="2400" dirty="0"/>
              <a:t> </a:t>
            </a:r>
            <a:r>
              <a:rPr lang="en-US" sz="2400" dirty="0" err="1"/>
              <a:t>sadrži</a:t>
            </a:r>
            <a:r>
              <a:rPr lang="en-US" sz="2400" dirty="0"/>
              <a:t> </a:t>
            </a:r>
            <a:r>
              <a:rPr lang="en-US" sz="2400" dirty="0" err="1"/>
              <a:t>konveksni</a:t>
            </a:r>
            <a:r>
              <a:rPr lang="en-US" sz="2400" dirty="0"/>
              <a:t> </a:t>
            </a:r>
            <a:r>
              <a:rPr lang="en-US" sz="2400" dirty="0" err="1"/>
              <a:t>poligon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 err="1"/>
              <a:t>Svaki</a:t>
            </a:r>
            <a:r>
              <a:rPr lang="en-US" sz="2400" dirty="0"/>
              <a:t> list </a:t>
            </a:r>
            <a:r>
              <a:rPr lang="en-US" sz="2400" dirty="0" err="1"/>
              <a:t>sadrži</a:t>
            </a:r>
            <a:r>
              <a:rPr lang="en-US" sz="2400" dirty="0"/>
              <a:t> </a:t>
            </a:r>
            <a:r>
              <a:rPr lang="en-US" sz="2400" dirty="0" err="1"/>
              <a:t>jedan</a:t>
            </a:r>
            <a:r>
              <a:rPr lang="en-US" sz="2400" dirty="0"/>
              <a:t> </a:t>
            </a:r>
            <a:r>
              <a:rPr lang="en-US" sz="2400" dirty="0" err="1"/>
              <a:t>poligon</a:t>
            </a:r>
            <a:r>
              <a:rPr lang="en-US" sz="2400" dirty="0"/>
              <a:t> </a:t>
            </a:r>
            <a:r>
              <a:rPr lang="en-US" sz="2400" dirty="0" err="1"/>
              <a:t>iz</a:t>
            </a:r>
            <a:r>
              <a:rPr lang="en-US" sz="2400" dirty="0"/>
              <a:t> </a:t>
            </a:r>
            <a:r>
              <a:rPr lang="en-US" sz="2400" dirty="0" err="1"/>
              <a:t>početnog</a:t>
            </a:r>
            <a:r>
              <a:rPr lang="en-US" sz="2400" dirty="0"/>
              <a:t>  </a:t>
            </a:r>
            <a:r>
              <a:rPr lang="en-US" sz="2400" dirty="0" err="1"/>
              <a:t>niza</a:t>
            </a:r>
            <a:r>
              <a:rPr lang="en-US" sz="2400" dirty="0"/>
              <a:t> </a:t>
            </a:r>
            <a:r>
              <a:rPr lang="en-US" sz="2400" dirty="0" err="1"/>
              <a:t>poligona</a:t>
            </a:r>
            <a:endParaRPr lang="en-US" sz="2400"/>
          </a:p>
          <a:p>
            <a:endParaRPr lang="en-US" sz="2400" dirty="0"/>
          </a:p>
          <a:p>
            <a:r>
              <a:rPr lang="en-US" sz="2400" dirty="0" err="1"/>
              <a:t>Stablo</a:t>
            </a:r>
            <a:r>
              <a:rPr lang="en-US" sz="2400" dirty="0"/>
              <a:t> </a:t>
            </a:r>
            <a:r>
              <a:rPr lang="en-US" sz="2400" dirty="0" err="1"/>
              <a:t>gradimo</a:t>
            </a:r>
            <a:r>
              <a:rPr lang="en-US" sz="2400" dirty="0"/>
              <a:t> </a:t>
            </a:r>
            <a:r>
              <a:rPr lang="en-US" sz="2400" dirty="0" err="1"/>
              <a:t>rekurzivno</a:t>
            </a:r>
            <a:r>
              <a:rPr lang="en-US" sz="2400" dirty="0"/>
              <a:t> </a:t>
            </a:r>
            <a:r>
              <a:rPr lang="en-US" sz="2400" dirty="0" err="1"/>
              <a:t>tako</a:t>
            </a:r>
            <a:r>
              <a:rPr lang="en-US" sz="2400" dirty="0"/>
              <a:t> da </a:t>
            </a:r>
            <a:r>
              <a:rPr lang="en-US" sz="2400" dirty="0" err="1"/>
              <a:t>čvor</a:t>
            </a:r>
            <a:r>
              <a:rPr lang="en-US" sz="2400" dirty="0"/>
              <a:t> </a:t>
            </a:r>
            <a:r>
              <a:rPr lang="en-US" sz="2400" dirty="0" err="1"/>
              <a:t>roditelj</a:t>
            </a:r>
            <a:r>
              <a:rPr lang="en-US" sz="2400" dirty="0"/>
              <a:t> </a:t>
            </a:r>
            <a:r>
              <a:rPr lang="en-US" sz="2400" dirty="0" err="1"/>
              <a:t>sadrži</a:t>
            </a:r>
            <a:r>
              <a:rPr lang="en-US" sz="2400" dirty="0"/>
              <a:t> Minkowskijevu </a:t>
            </a:r>
            <a:r>
              <a:rPr lang="en-US" sz="2400" dirty="0" err="1"/>
              <a:t>sumu</a:t>
            </a:r>
            <a:r>
              <a:rPr lang="en-US" sz="2400" dirty="0"/>
              <a:t> </a:t>
            </a:r>
            <a:r>
              <a:rPr lang="en-US" sz="2400" dirty="0" err="1"/>
              <a:t>poligona</a:t>
            </a:r>
            <a:r>
              <a:rPr lang="en-US" sz="2400" dirty="0"/>
              <a:t> </a:t>
            </a:r>
            <a:r>
              <a:rPr lang="en-US" sz="2400" dirty="0" err="1"/>
              <a:t>svoje</a:t>
            </a:r>
            <a:r>
              <a:rPr lang="en-US" sz="2400" dirty="0"/>
              <a:t> </a:t>
            </a:r>
            <a:r>
              <a:rPr lang="en-US" sz="2400" dirty="0" err="1"/>
              <a:t>djece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 err="1"/>
              <a:t>Upit</a:t>
            </a:r>
            <a:r>
              <a:rPr lang="en-US" sz="2400" dirty="0"/>
              <a:t> </a:t>
            </a:r>
            <a:r>
              <a:rPr lang="en-US" sz="2400" dirty="0" err="1"/>
              <a:t>nad</a:t>
            </a:r>
            <a:r>
              <a:rPr lang="en-US" sz="2400" dirty="0"/>
              <a:t> </a:t>
            </a:r>
            <a:r>
              <a:rPr lang="en-US" sz="2400" dirty="0" err="1"/>
              <a:t>intervalom</a:t>
            </a:r>
            <a:r>
              <a:rPr lang="en-US" sz="2400" dirty="0"/>
              <a:t> [l, r] je u </a:t>
            </a:r>
            <a:r>
              <a:rPr lang="en-US" sz="2400" dirty="0" err="1"/>
              <a:t>složenosti</a:t>
            </a:r>
            <a:r>
              <a:rPr lang="en-US" sz="2400" dirty="0"/>
              <a:t> </a:t>
            </a:r>
            <a:r>
              <a:rPr lang="en-US" sz="2400" i="1" dirty="0"/>
              <a:t>O(log n)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2470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01F9A-98DA-FE27-16F6-FD2D83679C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Kraj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F0A258-2473-85F8-02FE-4867B993BA5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34014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Parallax</vt:lpstr>
      <vt:lpstr>Minkowskijeva suma konveksnih poligona</vt:lpstr>
      <vt:lpstr>Definicija Minkowskijeve sume</vt:lpstr>
      <vt:lpstr>Primjena </vt:lpstr>
      <vt:lpstr>Algoritam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Udaljenost između dva poligona</vt:lpstr>
      <vt:lpstr>Udaljenost između dva poligona</vt:lpstr>
      <vt:lpstr>PowerPoint Presentation</vt:lpstr>
      <vt:lpstr>Vrijeme izračuna udaljenosti</vt:lpstr>
      <vt:lpstr>Zadatak 1</vt:lpstr>
      <vt:lpstr>Zadatak 1 - rješenje</vt:lpstr>
      <vt:lpstr>Zadatak 2</vt:lpstr>
      <vt:lpstr>Zadatak 3</vt:lpstr>
      <vt:lpstr>Zadatak 3 - rješenje</vt:lpstr>
      <vt:lpstr>Kraj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1061</cp:revision>
  <dcterms:created xsi:type="dcterms:W3CDTF">2026-05-15T10:51:03Z</dcterms:created>
  <dcterms:modified xsi:type="dcterms:W3CDTF">2026-05-20T16:01:47Z</dcterms:modified>
</cp:coreProperties>
</file>