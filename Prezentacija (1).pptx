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65" r:id="rId6"/>
    <p:sldId id="259" r:id="rId7"/>
    <p:sldId id="261" r:id="rId8"/>
    <p:sldId id="262" r:id="rId9"/>
    <p:sldId id="263" r:id="rId10"/>
    <p:sldId id="264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F8685-8737-43F2-9E75-62B55E313D96}" v="2140" dt="2026-05-19T16:47:32.966"/>
    <p1510:client id="{BC3ECB0D-E642-4C18-9176-33C3D2FCDE32}" v="42" dt="2026-05-19T10:01:22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19.5.2026.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/>
              <a:t>Minkowskijeva suma konveksnih poligona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Vid Joha i Petar Rupčić</a:t>
            </a:r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887C386-1EA4-79C6-9F0C-D001D709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Definicija Minkowskijeve sume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9A6A42C-BB27-8685-F32B-BA0871DD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A i B skupovi točaka u ravnini </a:t>
            </a:r>
          </a:p>
          <a:p>
            <a:r>
              <a:rPr lang="hr-HR"/>
              <a:t>A + B := {a + b; a </a:t>
            </a:r>
            <a:r>
              <a:rPr lang="hr-HR">
                <a:ea typeface="+mn-lt"/>
                <a:cs typeface="+mn-lt"/>
              </a:rPr>
              <a:t>∈ A, b ∈ B}</a:t>
            </a:r>
          </a:p>
          <a:p>
            <a:r>
              <a:rPr lang="hr-HR"/>
              <a:t>|A| := Broj vrhova poligona A 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/>
              <a:t>U ovom projektu pretpostavljamo da su A i B konveksni poligoni</a:t>
            </a:r>
          </a:p>
          <a:p>
            <a:r>
              <a:rPr lang="hr-HR"/>
              <a:t>Minkowski suma A + B je konveksni poligon sa najviše |A| + |B| vrhova </a:t>
            </a:r>
          </a:p>
        </p:txBody>
      </p:sp>
    </p:spTree>
    <p:extLst>
      <p:ext uri="{BB962C8B-B14F-4D97-AF65-F5344CB8AC3E}">
        <p14:creationId xmlns:p14="http://schemas.microsoft.com/office/powerpoint/2010/main" val="11618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7B2D-CEB8-4CB8-36E6-C170ACA7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44A9-99A3-3806-A1AC-C44DF7227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B10773-1CE4-DDA2-9C1D-D024E8A7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CA1BDE3-87FA-FA26-48A9-5D27C5D3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/>
              <a:t>Vrhove poligona P označimo s P</a:t>
            </a:r>
            <a:r>
              <a:rPr lang="hr-HR" baseline="-25000"/>
              <a:t>i </a:t>
            </a:r>
            <a:r>
              <a:rPr lang="hr-HR"/>
              <a:t>i ciklički ih enumeriramo </a:t>
            </a:r>
            <a:endParaRPr lang="en-US"/>
          </a:p>
          <a:p>
            <a:pPr marL="0" indent="0">
              <a:buNone/>
            </a:pPr>
            <a:r>
              <a:rPr lang="hr-HR"/>
              <a:t>    tako da P</a:t>
            </a:r>
            <a:r>
              <a:rPr lang="hr-HR" baseline="-25000" dirty="0"/>
              <a:t>0 </a:t>
            </a:r>
            <a:r>
              <a:rPr lang="hr-HR" dirty="0"/>
              <a:t>=P</a:t>
            </a:r>
            <a:r>
              <a:rPr lang="hr-HR" baseline="-25000" dirty="0"/>
              <a:t>|P|</a:t>
            </a:r>
            <a:endParaRPr lang="en-US"/>
          </a:p>
          <a:p>
            <a:r>
              <a:rPr lang="hr-HR"/>
              <a:t>Vrhove enumeriramo u smjeru suprotno od kazaljke na satu i tako da vrhovi P</a:t>
            </a:r>
            <a:r>
              <a:rPr lang="hr-HR" baseline="-25000"/>
              <a:t>0 </a:t>
            </a:r>
            <a:r>
              <a:rPr lang="hr-HR"/>
              <a:t>i Q</a:t>
            </a:r>
            <a:r>
              <a:rPr lang="hr-HR" baseline="-25000"/>
              <a:t>0 </a:t>
            </a:r>
            <a:r>
              <a:rPr lang="hr-HR"/>
              <a:t>imaju najmanju y koordinatu</a:t>
            </a:r>
          </a:p>
          <a:p>
            <a:r>
              <a:rPr lang="hr-HR"/>
              <a:t>Uz dva pokazivača </a:t>
            </a:r>
            <a:r>
              <a:rPr lang="hr-HR" i="1"/>
              <a:t>i, j</a:t>
            </a:r>
            <a:r>
              <a:rPr lang="hr-HR"/>
              <a:t> ponavljamo sljedeće korake dok god je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 </a:t>
            </a:r>
            <a:r>
              <a:rPr lang="hr-HR" i="1" dirty="0"/>
              <a:t>i &lt; |P|</a:t>
            </a:r>
            <a:r>
              <a:rPr lang="hr-HR"/>
              <a:t> te </a:t>
            </a:r>
            <a:r>
              <a:rPr lang="hr-HR" i="1"/>
              <a:t>j &lt; |Q|</a:t>
            </a:r>
          </a:p>
          <a:p>
            <a:pPr marL="1371600" lvl="2" indent="-457200">
              <a:buAutoNum type="arabicPeriod"/>
            </a:pPr>
            <a:r>
              <a:rPr lang="hr-HR"/>
              <a:t>Poligonu P + Q pridruži P</a:t>
            </a:r>
            <a:r>
              <a:rPr lang="hr-HR" baseline="-25000"/>
              <a:t>i</a:t>
            </a:r>
            <a:r>
              <a:rPr lang="hr-HR"/>
              <a:t> + Q</a:t>
            </a:r>
            <a:r>
              <a:rPr lang="hr-HR" baseline="-25000"/>
              <a:t>j</a:t>
            </a:r>
            <a:endParaRPr lang="hr-HR" sz="1400" baseline="-2500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1371600" lvl="2" indent="-457200">
              <a:buAutoNum type="arabicPeriod"/>
            </a:pPr>
            <a:r>
              <a:rPr lang="hr-HR"/>
              <a:t>Usporedi (polarne) kuteve vektora </a:t>
            </a:r>
            <a:r>
              <a:rPr lang="hr-HR" i="1"/>
              <a:t>P</a:t>
            </a:r>
            <a:r>
              <a:rPr lang="hr-HR" i="1" baseline="-25000"/>
              <a:t>i</a:t>
            </a:r>
            <a:r>
              <a:rPr lang="hr-HR" i="1"/>
              <a:t>P</a:t>
            </a:r>
            <a:r>
              <a:rPr lang="hr-HR" i="1" baseline="-25000"/>
              <a:t>i+1</a:t>
            </a:r>
            <a:r>
              <a:rPr lang="hr-HR" i="1" dirty="0"/>
              <a:t> </a:t>
            </a:r>
            <a:r>
              <a:rPr lang="hr-HR"/>
              <a:t>i</a:t>
            </a:r>
            <a:r>
              <a:rPr lang="hr-HR" i="1"/>
              <a:t> Q</a:t>
            </a:r>
            <a:r>
              <a:rPr lang="hr-HR" i="1" baseline="-25000"/>
              <a:t>j</a:t>
            </a:r>
            <a:r>
              <a:rPr lang="hr-HR" i="1"/>
              <a:t>Q</a:t>
            </a:r>
            <a:r>
              <a:rPr lang="hr-HR" i="1" baseline="-25000"/>
              <a:t>j+1</a:t>
            </a:r>
            <a:endParaRPr lang="hr-HR" i="1" baseline="-2500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r>
              <a:rPr lang="hr-HR">
                <a:ea typeface="+mn-lt"/>
                <a:cs typeface="+mn-lt"/>
              </a:rPr>
              <a:t>Povećaj pointer koji odgovara vektoru manjeg kuta (ili oba ako su kutevi jednaki)</a:t>
            </a:r>
            <a:endParaRPr lang="hr-HR" dirty="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endParaRPr lang="hr-HR" dirty="0"/>
          </a:p>
          <a:p>
            <a:pPr marL="0" indent="0">
              <a:buNone/>
            </a:pPr>
            <a:r>
              <a:rPr lang="hr-HR"/>
              <a:t>  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baseline="-25000" dirty="0"/>
          </a:p>
          <a:p>
            <a:endParaRPr lang="hr-HR" baseline="-25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FF5AB0-E0AA-DBE3-2B62-639BB37CDD8E}"/>
              </a:ext>
            </a:extLst>
          </p:cNvPr>
          <p:cNvCxnSpPr/>
          <p:nvPr/>
        </p:nvCxnSpPr>
        <p:spPr>
          <a:xfrm>
            <a:off x="5836998" y="4611982"/>
            <a:ext cx="501226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F1DEAB-F242-606D-5643-F0260FD4F090}"/>
              </a:ext>
            </a:extLst>
          </p:cNvPr>
          <p:cNvCxnSpPr/>
          <p:nvPr/>
        </p:nvCxnSpPr>
        <p:spPr>
          <a:xfrm>
            <a:off x="6503747" y="4615617"/>
            <a:ext cx="551089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DEFD-DE1C-76EE-4381-0CA3D811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2D077501-458B-4BDF-C1B3-2EDB0AA0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857" y="1369784"/>
            <a:ext cx="486228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CCCE8-8192-C671-507A-5AD6B031F8F4}"/>
              </a:ext>
            </a:extLst>
          </p:cNvPr>
          <p:cNvSpPr txBox="1"/>
          <p:nvPr/>
        </p:nvSpPr>
        <p:spPr>
          <a:xfrm>
            <a:off x="4122963" y="3544661"/>
            <a:ext cx="204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P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DAD7A-21E5-07E4-E16F-2696024EF0B1}"/>
              </a:ext>
            </a:extLst>
          </p:cNvPr>
          <p:cNvSpPr txBox="1"/>
          <p:nvPr/>
        </p:nvSpPr>
        <p:spPr>
          <a:xfrm>
            <a:off x="7863531" y="2746778"/>
            <a:ext cx="2109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1D710-2E54-8B2E-DE82-368C7284FED1}"/>
              </a:ext>
            </a:extLst>
          </p:cNvPr>
          <p:cNvSpPr txBox="1"/>
          <p:nvPr/>
        </p:nvSpPr>
        <p:spPr>
          <a:xfrm>
            <a:off x="6244166" y="1820333"/>
            <a:ext cx="8819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P + Q</a:t>
            </a:r>
          </a:p>
        </p:txBody>
      </p:sp>
    </p:spTree>
    <p:extLst>
      <p:ext uri="{BB962C8B-B14F-4D97-AF65-F5344CB8AC3E}">
        <p14:creationId xmlns:p14="http://schemas.microsoft.com/office/powerpoint/2010/main" val="9865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2D3C-F54B-4568-7D40-FC1FD7DF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  <a:endParaRPr lang="en-US"/>
          </a:p>
        </p:txBody>
      </p:sp>
      <p:pic>
        <p:nvPicPr>
          <p:cNvPr id="7" name="Content Placeholder 6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E42043DB-6E32-2D68-084D-B286F7A78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363" y="1622196"/>
            <a:ext cx="4248150" cy="36099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72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CFCA-8DEC-8978-A7AC-604D3CCC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points and lines&#10;&#10;AI-generated content may be incorrect.">
            <a:extLst>
              <a:ext uri="{FF2B5EF4-FFF2-40B4-BE49-F238E27FC236}">
                <a16:creationId xmlns:a16="http://schemas.microsoft.com/office/drawing/2014/main" id="{FCD3B220-85FD-11BA-A594-7CD3BA7F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737" y="1369784"/>
            <a:ext cx="483452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32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E6-4E28-91AC-5CC9-25A1FAAF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1FA34932-2D8B-EF36-F1B1-D9D0F1A4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4458" y="1369784"/>
            <a:ext cx="4843083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92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7CC1-B735-B5C5-BE82-C00B3FFE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818593-7C65-9A2D-3716-16EB324B0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202" y="1374805"/>
            <a:ext cx="486759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942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6BD4-1C6B-3F32-0C69-C76E293D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rectangle and a triangle&#10;&#10;AI-generated content may be incorrect.">
            <a:extLst>
              <a:ext uri="{FF2B5EF4-FFF2-40B4-BE49-F238E27FC236}">
                <a16:creationId xmlns:a16="http://schemas.microsoft.com/office/drawing/2014/main" id="{F954EE44-E8F8-9A72-F23C-250E9A865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682" y="1369784"/>
            <a:ext cx="479463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621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0A6F-C131-2B1C-C506-686B6BDF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9D50-05B6-88C5-AE93-4B084C88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Ostvaruje</a:t>
            </a:r>
            <a:r>
              <a:rPr lang="en-US" dirty="0"/>
              <a:t> se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dvaju</a:t>
            </a:r>
            <a:r>
              <a:rPr lang="en-US" dirty="0"/>
              <a:t> 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ili</a:t>
            </a:r>
            <a:r>
              <a:rPr lang="en-US" dirty="0"/>
              <a:t>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vrha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stranice</a:t>
            </a:r>
            <a:r>
              <a:rPr lang="en-US" dirty="0"/>
              <a:t> </a:t>
            </a:r>
            <a:r>
              <a:rPr lang="en-US" dirty="0" err="1"/>
              <a:t>što</a:t>
            </a:r>
            <a:r>
              <a:rPr lang="en-US" dirty="0"/>
              <a:t>        </a:t>
            </a:r>
            <a:r>
              <a:rPr lang="en-US" dirty="0" err="1"/>
              <a:t>nam</a:t>
            </a:r>
            <a:r>
              <a:rPr lang="en-US" dirty="0"/>
              <a:t> </a:t>
            </a:r>
            <a:r>
              <a:rPr lang="en-US" dirty="0" err="1"/>
              <a:t>daje</a:t>
            </a:r>
            <a:r>
              <a:rPr lang="en-US" dirty="0"/>
              <a:t> </a:t>
            </a:r>
            <a:r>
              <a:rPr lang="en-US" dirty="0" err="1"/>
              <a:t>vremensku</a:t>
            </a:r>
            <a:r>
              <a:rPr lang="en-US" dirty="0"/>
              <a:t> </a:t>
            </a:r>
            <a:r>
              <a:rPr lang="en-US" dirty="0" err="1"/>
              <a:t>složenost</a:t>
            </a:r>
            <a:r>
              <a:rPr lang="en-US" dirty="0"/>
              <a:t> </a:t>
            </a:r>
            <a:r>
              <a:rPr lang="en-US" i="1" dirty="0"/>
              <a:t>O(|P||Q|)</a:t>
            </a:r>
            <a:endParaRPr lang="en-US" dirty="0"/>
          </a:p>
          <a:p>
            <a:endParaRPr lang="en-US" i="1" dirty="0"/>
          </a:p>
          <a:p>
            <a:r>
              <a:rPr lang="en-US" i="1" dirty="0"/>
              <a:t>crtež</a:t>
            </a:r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r>
              <a:rPr lang="en-US" dirty="0"/>
              <a:t>Korištenjem Minkowskijeve </a:t>
            </a:r>
            <a:r>
              <a:rPr lang="en-US" dirty="0" err="1"/>
              <a:t>sume</a:t>
            </a:r>
            <a:r>
              <a:rPr lang="en-US" dirty="0"/>
              <a:t> 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riješiti</a:t>
            </a:r>
            <a:r>
              <a:rPr lang="en-US" dirty="0"/>
              <a:t> u </a:t>
            </a:r>
            <a:r>
              <a:rPr lang="en-US" dirty="0" err="1"/>
              <a:t>složenosti</a:t>
            </a:r>
            <a:r>
              <a:rPr lang="en-US" dirty="0"/>
              <a:t> </a:t>
            </a:r>
            <a:r>
              <a:rPr lang="en-US" i="1" dirty="0"/>
              <a:t>O(|P| + 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triangles&#10;&#10;AI-generated content may be incorrect.">
            <a:extLst>
              <a:ext uri="{FF2B5EF4-FFF2-40B4-BE49-F238E27FC236}">
                <a16:creationId xmlns:a16="http://schemas.microsoft.com/office/drawing/2014/main" id="{3572CA47-EDFB-0B85-3381-D9CDA7F9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631"/>
            <a:ext cx="105156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5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41AE-4CDC-6C96-3DE5-35CBA2A5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4E4C-9F16-F2ED-CE74-70A8B085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14D5-5486-215F-36AA-828DCB563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      </a:t>
            </a:r>
          </a:p>
          <a:p>
            <a:endParaRPr lang="en-US" dirty="0"/>
          </a:p>
          <a:p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  </a:t>
            </a:r>
            <a:r>
              <a:rPr lang="en-US" i="1" dirty="0"/>
              <a:t>–Q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 </a:t>
            </a:r>
            <a:r>
              <a:rPr lang="en-US" i="1" dirty="0"/>
              <a:t>P + (–Q)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 err="1"/>
              <a:t>Udaljenost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ishodišta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</a:t>
            </a:r>
            <a:endParaRPr lang="en-US" dirty="0"/>
          </a:p>
          <a:p>
            <a:endParaRPr lang="hr-HR" i="1" dirty="0"/>
          </a:p>
          <a:p>
            <a:r>
              <a:rPr lang="en-US" dirty="0"/>
              <a:t>Ako se </a:t>
            </a:r>
            <a:r>
              <a:rPr lang="en-US" dirty="0" err="1"/>
              <a:t>poligoni</a:t>
            </a:r>
            <a:r>
              <a:rPr lang="en-US" dirty="0"/>
              <a:t> </a:t>
            </a:r>
            <a:r>
              <a:rPr lang="en-US" dirty="0" err="1"/>
              <a:t>presijecaju</a:t>
            </a:r>
            <a:r>
              <a:rPr lang="en-US" dirty="0"/>
              <a:t> - (0,0) </a:t>
            </a:r>
            <a:r>
              <a:rPr lang="hr-HR" dirty="0"/>
              <a:t>∈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 </a:t>
            </a:r>
            <a:r>
              <a:rPr lang="hr-HR" dirty="0"/>
              <a:t>postoje a ∈ P i b ∈ Q takvi da </a:t>
            </a:r>
            <a:r>
              <a:rPr lang="hr-HR" i="1" dirty="0"/>
              <a:t>a</a:t>
            </a:r>
            <a:r>
              <a:rPr lang="hr-HR" dirty="0"/>
              <a:t> </a:t>
            </a:r>
            <a:r>
              <a:rPr lang="en-US" i="1" dirty="0"/>
              <a:t>– b = (0, 0) </a:t>
            </a:r>
            <a:endParaRPr lang="hr-HR" dirty="0"/>
          </a:p>
          <a:p>
            <a:pPr marL="457200" lvl="1" indent="0">
              <a:buNone/>
            </a:pP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177A2F12-6376-8D19-F049-C5898DF7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83" y="1718741"/>
            <a:ext cx="1995684" cy="5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E18A-E77D-4AC0-7EC9-284049F9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black and white drawing of a hexagon&#10;&#10;AI-generated content may be incorrect.">
            <a:extLst>
              <a:ext uri="{FF2B5EF4-FFF2-40B4-BE49-F238E27FC236}">
                <a16:creationId xmlns:a16="http://schemas.microsoft.com/office/drawing/2014/main" id="{776CC48E-13F8-57D1-6A36-E1B080008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4042" y="361417"/>
            <a:ext cx="7203914" cy="619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BD54-F3C0-6534-E3B3-402A637E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 li </a:t>
            </a:r>
            <a:r>
              <a:rPr lang="en-US" dirty="0" err="1"/>
              <a:t>točka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816A-9912-6B0C-F988-FC789DB5D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Možda</a:t>
            </a:r>
            <a:r>
              <a:rPr lang="en-US" dirty="0"/>
              <a:t> </a:t>
            </a:r>
            <a:r>
              <a:rPr lang="en-US" dirty="0" err="1"/>
              <a:t>objasnit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izračunamo</a:t>
            </a:r>
            <a:r>
              <a:rPr lang="en-US" dirty="0"/>
              <a:t> je li </a:t>
            </a:r>
            <a:r>
              <a:rPr lang="en-US" dirty="0" err="1"/>
              <a:t>točka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  <a:p>
            <a:endParaRPr lang="en-US" dirty="0"/>
          </a:p>
          <a:p>
            <a:r>
              <a:rPr lang="en-US" err="1"/>
              <a:t>Možda</a:t>
            </a:r>
            <a:r>
              <a:rPr lang="en-US" dirty="0"/>
              <a:t> </a:t>
            </a:r>
            <a:r>
              <a:rPr lang="en-US" err="1"/>
              <a:t>objasnit</a:t>
            </a:r>
            <a:r>
              <a:rPr lang="en-US" dirty="0"/>
              <a:t> </a:t>
            </a:r>
            <a:r>
              <a:rPr lang="en-US" err="1"/>
              <a:t>kako</a:t>
            </a:r>
            <a:r>
              <a:rPr lang="en-US" dirty="0"/>
              <a:t> se </a:t>
            </a:r>
            <a:r>
              <a:rPr lang="en-US" err="1"/>
              <a:t>provjerava</a:t>
            </a:r>
            <a:r>
              <a:rPr lang="en-US" dirty="0"/>
              <a:t> </a:t>
            </a:r>
            <a:r>
              <a:rPr lang="en-US" err="1"/>
              <a:t>udaljenost</a:t>
            </a:r>
            <a:r>
              <a:rPr lang="en-US" dirty="0"/>
              <a:t> </a:t>
            </a:r>
            <a:r>
              <a:rPr lang="en-US" err="1"/>
              <a:t>između</a:t>
            </a:r>
            <a:r>
              <a:rPr lang="en-US" dirty="0"/>
              <a:t> </a:t>
            </a:r>
            <a:r>
              <a:rPr lang="en-US" err="1"/>
              <a:t>segmenta</a:t>
            </a:r>
            <a:r>
              <a:rPr lang="en-US" dirty="0"/>
              <a:t> I </a:t>
            </a:r>
            <a:r>
              <a:rPr lang="en-US" err="1"/>
              <a:t>točke</a:t>
            </a:r>
            <a:r>
              <a:rPr lang="en-US" dirty="0"/>
              <a:t> (</a:t>
            </a:r>
            <a:r>
              <a:rPr lang="en-US" err="1"/>
              <a:t>ishodišta</a:t>
            </a:r>
            <a:r>
              <a:rPr lang="en-US" dirty="0"/>
              <a:t>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44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B70A-1599-8ACF-8AC1-3A3EEE3D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A1C4-D592-2EB7-B01D-209AEE40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B6C6-1ED1-C1B4-D5E0-46FD9F68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EFAB-1629-106A-23F5-8F023B90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7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262A-5F93-6550-E174-A8B18922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E7BC-23EE-9F8F-B5E6-3878AF7C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Zadan je </a:t>
            </a:r>
            <a:r>
              <a:rPr lang="en-US" dirty="0" err="1"/>
              <a:t>niz</a:t>
            </a:r>
            <a:r>
              <a:rPr lang="en-US" dirty="0"/>
              <a:t> od n ≤ 100 000 </a:t>
            </a:r>
            <a:r>
              <a:rPr lang="en-US" dirty="0" err="1"/>
              <a:t>konveksnih</a:t>
            </a:r>
            <a:r>
              <a:rPr lang="en-US" dirty="0"/>
              <a:t> </a:t>
            </a:r>
            <a:r>
              <a:rPr lang="en-US" dirty="0" err="1"/>
              <a:t>poligona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Zadano</a:t>
            </a:r>
            <a:r>
              <a:rPr lang="en-US" dirty="0"/>
              <a:t> je q ≤ 100 000 </a:t>
            </a:r>
            <a:r>
              <a:rPr lang="en-US" dirty="0" err="1"/>
              <a:t>upita</a:t>
            </a:r>
            <a:endParaRPr lang="en-US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 (l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Minkowskijevu</a:t>
            </a:r>
            <a:r>
              <a:rPr lang="en-US" dirty="0"/>
              <a:t> </a:t>
            </a:r>
            <a:r>
              <a:rPr lang="en-US" dirty="0" err="1"/>
              <a:t>sumu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l_i</a:t>
            </a:r>
            <a:r>
              <a:rPr lang="en-US" dirty="0"/>
              <a:t> + A</a:t>
            </a:r>
            <a:r>
              <a:rPr lang="en-US" baseline="-25000" dirty="0"/>
              <a:t>l_i+1</a:t>
            </a:r>
            <a:r>
              <a:rPr lang="en-US" dirty="0"/>
              <a:t> + … + </a:t>
            </a:r>
            <a:r>
              <a:rPr lang="en-US" dirty="0" err="1"/>
              <a:t>A</a:t>
            </a:r>
            <a:r>
              <a:rPr lang="en-US" baseline="-25000" dirty="0" err="1"/>
              <a:t>r_i</a:t>
            </a:r>
            <a:endParaRPr lang="en-US" baseline="-25000" dirty="0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 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 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dobivenog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</p:spTree>
    <p:extLst>
      <p:ext uri="{BB962C8B-B14F-4D97-AF65-F5344CB8AC3E}">
        <p14:creationId xmlns:p14="http://schemas.microsoft.com/office/powerpoint/2010/main" val="2269445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E4F3-376E-4BF1-4AC8-BC65C5FB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B9D3-E3ED-413B-A9E1-EABF895D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ATP Dynamic Range Query </a:t>
            </a:r>
            <a:r>
              <a:rPr lang="en-US" sz="2400" dirty="0" err="1"/>
              <a:t>implementiran</a:t>
            </a:r>
            <a:r>
              <a:rPr lang="en-US" sz="2400" dirty="0"/>
              <a:t> </a:t>
            </a:r>
            <a:r>
              <a:rPr lang="en-US" sz="2400" dirty="0" err="1"/>
              <a:t>pomoću</a:t>
            </a:r>
            <a:r>
              <a:rPr lang="en-US" sz="2400" dirty="0"/>
              <a:t> </a:t>
            </a:r>
            <a:r>
              <a:rPr lang="en-US" sz="2400" dirty="0" err="1"/>
              <a:t>segmentnog</a:t>
            </a:r>
            <a:r>
              <a:rPr lang="en-US" sz="2400" dirty="0"/>
              <a:t> </a:t>
            </a:r>
            <a:r>
              <a:rPr lang="en-US" sz="2400" dirty="0" err="1"/>
              <a:t>stabla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Svaki </a:t>
            </a:r>
            <a:r>
              <a:rPr lang="en-US" sz="2400" dirty="0" err="1"/>
              <a:t>čvor</a:t>
            </a:r>
            <a:r>
              <a:rPr lang="en-US" sz="2400" dirty="0"/>
              <a:t>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konveksni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Svaki</a:t>
            </a:r>
            <a:r>
              <a:rPr lang="en-US" sz="2400" dirty="0"/>
              <a:t> list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jedan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r>
              <a:rPr lang="en-US" sz="2400" dirty="0"/>
              <a:t> </a:t>
            </a:r>
            <a:r>
              <a:rPr lang="en-US" sz="2400" dirty="0" err="1"/>
              <a:t>iz</a:t>
            </a:r>
            <a:r>
              <a:rPr lang="en-US" sz="2400" dirty="0"/>
              <a:t> </a:t>
            </a:r>
            <a:r>
              <a:rPr lang="en-US" sz="2400" dirty="0" err="1"/>
              <a:t>početnog</a:t>
            </a:r>
            <a:r>
              <a:rPr lang="en-US" sz="2400" dirty="0"/>
              <a:t>  </a:t>
            </a:r>
            <a:r>
              <a:rPr lang="en-US" sz="2400" dirty="0" err="1"/>
              <a:t>niza</a:t>
            </a:r>
            <a:r>
              <a:rPr lang="en-US" sz="2400" dirty="0"/>
              <a:t> </a:t>
            </a:r>
            <a:r>
              <a:rPr lang="en-US" sz="2400" dirty="0" err="1"/>
              <a:t>poligona</a:t>
            </a:r>
            <a:endParaRPr lang="en-US" sz="2400"/>
          </a:p>
          <a:p>
            <a:endParaRPr lang="en-US" sz="2400" dirty="0"/>
          </a:p>
          <a:p>
            <a:r>
              <a:rPr lang="en-US" sz="2400" dirty="0" err="1"/>
              <a:t>Stablo</a:t>
            </a:r>
            <a:r>
              <a:rPr lang="en-US" sz="2400" dirty="0"/>
              <a:t> </a:t>
            </a:r>
            <a:r>
              <a:rPr lang="en-US" sz="2400" dirty="0" err="1"/>
              <a:t>gradimo</a:t>
            </a:r>
            <a:r>
              <a:rPr lang="en-US" sz="2400" dirty="0"/>
              <a:t> </a:t>
            </a:r>
            <a:r>
              <a:rPr lang="en-US" sz="2400" dirty="0" err="1"/>
              <a:t>rekurzivno</a:t>
            </a:r>
            <a:r>
              <a:rPr lang="en-US" sz="2400" dirty="0"/>
              <a:t> </a:t>
            </a:r>
            <a:r>
              <a:rPr lang="en-US" sz="2400" dirty="0" err="1"/>
              <a:t>tako</a:t>
            </a:r>
            <a:r>
              <a:rPr lang="en-US" sz="2400" dirty="0"/>
              <a:t> da </a:t>
            </a:r>
            <a:r>
              <a:rPr lang="en-US" sz="2400" dirty="0" err="1"/>
              <a:t>čvor</a:t>
            </a:r>
            <a:r>
              <a:rPr lang="en-US" sz="2400" dirty="0"/>
              <a:t> </a:t>
            </a:r>
            <a:r>
              <a:rPr lang="en-US" sz="2400" dirty="0" err="1"/>
              <a:t>roditelj</a:t>
            </a:r>
            <a:r>
              <a:rPr lang="en-US" sz="2400" dirty="0"/>
              <a:t> </a:t>
            </a:r>
            <a:r>
              <a:rPr lang="en-US" sz="2400" dirty="0" err="1"/>
              <a:t>sadrži</a:t>
            </a:r>
            <a:r>
              <a:rPr lang="en-US" sz="2400" dirty="0"/>
              <a:t> Minkowskijevu </a:t>
            </a:r>
            <a:r>
              <a:rPr lang="en-US" sz="2400" dirty="0" err="1"/>
              <a:t>sumu</a:t>
            </a:r>
            <a:r>
              <a:rPr lang="en-US" sz="2400" dirty="0"/>
              <a:t> </a:t>
            </a:r>
            <a:r>
              <a:rPr lang="en-US" sz="2400" dirty="0" err="1"/>
              <a:t>poligona</a:t>
            </a:r>
            <a:r>
              <a:rPr lang="en-US" sz="2400" dirty="0"/>
              <a:t> </a:t>
            </a:r>
            <a:r>
              <a:rPr lang="en-US" sz="2400" dirty="0" err="1"/>
              <a:t>svoje</a:t>
            </a:r>
            <a:r>
              <a:rPr lang="en-US" sz="2400" dirty="0"/>
              <a:t> </a:t>
            </a:r>
            <a:r>
              <a:rPr lang="en-US" sz="2400" dirty="0" err="1"/>
              <a:t>djece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Upit</a:t>
            </a:r>
            <a:r>
              <a:rPr lang="en-US" sz="2400" dirty="0"/>
              <a:t> </a:t>
            </a:r>
            <a:r>
              <a:rPr lang="en-US" sz="2400" dirty="0" err="1"/>
              <a:t>nad</a:t>
            </a:r>
            <a:r>
              <a:rPr lang="en-US" sz="2400" dirty="0"/>
              <a:t> </a:t>
            </a:r>
            <a:r>
              <a:rPr lang="en-US" sz="2400" dirty="0" err="1"/>
              <a:t>intervalom</a:t>
            </a:r>
            <a:r>
              <a:rPr lang="en-US" sz="2400" dirty="0"/>
              <a:t> [l, r] je u </a:t>
            </a:r>
            <a:r>
              <a:rPr lang="en-US" sz="2400" dirty="0" err="1"/>
              <a:t>složenosti</a:t>
            </a:r>
            <a:r>
              <a:rPr lang="en-US" sz="2400" dirty="0"/>
              <a:t> </a:t>
            </a:r>
            <a:r>
              <a:rPr lang="en-US" sz="2400" i="1" dirty="0"/>
              <a:t>O(log n)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7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Tema sustava Office</vt:lpstr>
      <vt:lpstr>Minkowskijeva suma konveksnih poligona</vt:lpstr>
      <vt:lpstr>Definicija Minkowskijeve sume</vt:lpstr>
      <vt:lpstr>PowerPoint Presentation</vt:lpstr>
      <vt:lpstr>Algoritam</vt:lpstr>
      <vt:lpstr>Algoritam</vt:lpstr>
      <vt:lpstr>Algoritam</vt:lpstr>
      <vt:lpstr>Algoritam</vt:lpstr>
      <vt:lpstr>Algoritam</vt:lpstr>
      <vt:lpstr>Algoritam</vt:lpstr>
      <vt:lpstr>Algoritam</vt:lpstr>
      <vt:lpstr>Udaljenost između dva poligona</vt:lpstr>
      <vt:lpstr>Udaljenost između dva poligona</vt:lpstr>
      <vt:lpstr>PowerPoint Presentation</vt:lpstr>
      <vt:lpstr>Je li točka unutar poligona</vt:lpstr>
      <vt:lpstr>Zadatak 1</vt:lpstr>
      <vt:lpstr>Zadatak 2</vt:lpstr>
      <vt:lpstr>Zadatak 3</vt:lpstr>
      <vt:lpstr>Zadatak 3 - rješenje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761</cp:revision>
  <dcterms:created xsi:type="dcterms:W3CDTF">2026-05-15T10:51:03Z</dcterms:created>
  <dcterms:modified xsi:type="dcterms:W3CDTF">2026-05-19T17:09:20Z</dcterms:modified>
</cp:coreProperties>
</file>